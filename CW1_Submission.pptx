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E3F9F-59F9-E709-31EF-052C753B6C7A}"/>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IN"/>
          </a:p>
        </p:txBody>
      </p:sp>
      <p:sp>
        <p:nvSpPr>
          <p:cNvPr id="3" name="Subtitle 2">
            <a:extLst>
              <a:ext uri="{FF2B5EF4-FFF2-40B4-BE49-F238E27FC236}">
                <a16:creationId xmlns:a16="http://schemas.microsoft.com/office/drawing/2014/main" id="{08AD7C4A-C58F-FF9D-2386-9D56693A79FB}"/>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IN"/>
          </a:p>
        </p:txBody>
      </p:sp>
      <p:sp>
        <p:nvSpPr>
          <p:cNvPr id="4" name="Date Placeholder 3">
            <a:extLst>
              <a:ext uri="{FF2B5EF4-FFF2-40B4-BE49-F238E27FC236}">
                <a16:creationId xmlns:a16="http://schemas.microsoft.com/office/drawing/2014/main" id="{D1BB8CA0-02D2-8D7F-F10A-F4633BE7F063}"/>
              </a:ext>
            </a:extLst>
          </p:cNvPr>
          <p:cNvSpPr txBox="1">
            <a:spLocks noGrp="1"/>
          </p:cNvSpPr>
          <p:nvPr>
            <p:ph type="dt" sz="half" idx="7"/>
          </p:nvPr>
        </p:nvSpPr>
        <p:spPr/>
        <p:txBody>
          <a:bodyPr/>
          <a:lstStyle>
            <a:lvl1pPr>
              <a:defRPr/>
            </a:lvl1pPr>
          </a:lstStyle>
          <a:p>
            <a:pPr lvl="0"/>
            <a:fld id="{DB193459-1914-41B3-B081-F33AE2E6D8DB}" type="datetime1">
              <a:rPr lang="en-IN"/>
              <a:pPr lvl="0"/>
              <a:t>05-03-2026</a:t>
            </a:fld>
            <a:endParaRPr lang="en-IN"/>
          </a:p>
        </p:txBody>
      </p:sp>
      <p:sp>
        <p:nvSpPr>
          <p:cNvPr id="5" name="Footer Placeholder 4">
            <a:extLst>
              <a:ext uri="{FF2B5EF4-FFF2-40B4-BE49-F238E27FC236}">
                <a16:creationId xmlns:a16="http://schemas.microsoft.com/office/drawing/2014/main" id="{993E9094-E005-74BA-E183-BD3DCDB3CF0A}"/>
              </a:ext>
            </a:extLst>
          </p:cNvPr>
          <p:cNvSpPr txBox="1">
            <a:spLocks noGrp="1"/>
          </p:cNvSpPr>
          <p:nvPr>
            <p:ph type="ftr" sz="quarter" idx="9"/>
          </p:nvPr>
        </p:nvSpPr>
        <p:spPr/>
        <p:txBody>
          <a:bodyPr/>
          <a:lstStyle>
            <a:lvl1pPr>
              <a:defRPr/>
            </a:lvl1pPr>
          </a:lstStyle>
          <a:p>
            <a:pPr lvl="0"/>
            <a:endParaRPr lang="en-IN"/>
          </a:p>
        </p:txBody>
      </p:sp>
      <p:sp>
        <p:nvSpPr>
          <p:cNvPr id="6" name="Slide Number Placeholder 5">
            <a:extLst>
              <a:ext uri="{FF2B5EF4-FFF2-40B4-BE49-F238E27FC236}">
                <a16:creationId xmlns:a16="http://schemas.microsoft.com/office/drawing/2014/main" id="{CFD1A768-4F74-FDD4-D841-06032985629E}"/>
              </a:ext>
            </a:extLst>
          </p:cNvPr>
          <p:cNvSpPr txBox="1">
            <a:spLocks noGrp="1"/>
          </p:cNvSpPr>
          <p:nvPr>
            <p:ph type="sldNum" sz="quarter" idx="8"/>
          </p:nvPr>
        </p:nvSpPr>
        <p:spPr/>
        <p:txBody>
          <a:bodyPr/>
          <a:lstStyle>
            <a:lvl1pPr>
              <a:defRPr/>
            </a:lvl1pPr>
          </a:lstStyle>
          <a:p>
            <a:pPr lvl="0"/>
            <a:fld id="{E4E546BB-0881-49A6-88E2-258898FD1684}" type="slidenum">
              <a:t>‹#›</a:t>
            </a:fld>
            <a:endParaRPr lang="en-IN"/>
          </a:p>
        </p:txBody>
      </p:sp>
    </p:spTree>
    <p:extLst>
      <p:ext uri="{BB962C8B-B14F-4D97-AF65-F5344CB8AC3E}">
        <p14:creationId xmlns:p14="http://schemas.microsoft.com/office/powerpoint/2010/main" val="31795253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463C-C367-3564-94BA-60F67FBF9B3B}"/>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51BA9B3D-3041-AB44-AA07-637916E3BDCE}"/>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2D32ED-0965-5D6D-B60E-58D33CE79E53}"/>
              </a:ext>
            </a:extLst>
          </p:cNvPr>
          <p:cNvSpPr txBox="1">
            <a:spLocks noGrp="1"/>
          </p:cNvSpPr>
          <p:nvPr>
            <p:ph type="dt" sz="half" idx="7"/>
          </p:nvPr>
        </p:nvSpPr>
        <p:spPr/>
        <p:txBody>
          <a:bodyPr/>
          <a:lstStyle>
            <a:lvl1pPr>
              <a:defRPr/>
            </a:lvl1pPr>
          </a:lstStyle>
          <a:p>
            <a:pPr lvl="0"/>
            <a:fld id="{203592EE-509A-4471-8C08-CA6F5127D80F}" type="datetime1">
              <a:rPr lang="en-IN"/>
              <a:pPr lvl="0"/>
              <a:t>05-03-2026</a:t>
            </a:fld>
            <a:endParaRPr lang="en-IN"/>
          </a:p>
        </p:txBody>
      </p:sp>
      <p:sp>
        <p:nvSpPr>
          <p:cNvPr id="5" name="Footer Placeholder 4">
            <a:extLst>
              <a:ext uri="{FF2B5EF4-FFF2-40B4-BE49-F238E27FC236}">
                <a16:creationId xmlns:a16="http://schemas.microsoft.com/office/drawing/2014/main" id="{3F3C01AC-EC49-CDFC-5950-0C5336CC072F}"/>
              </a:ext>
            </a:extLst>
          </p:cNvPr>
          <p:cNvSpPr txBox="1">
            <a:spLocks noGrp="1"/>
          </p:cNvSpPr>
          <p:nvPr>
            <p:ph type="ftr" sz="quarter" idx="9"/>
          </p:nvPr>
        </p:nvSpPr>
        <p:spPr/>
        <p:txBody>
          <a:bodyPr/>
          <a:lstStyle>
            <a:lvl1pPr>
              <a:defRPr/>
            </a:lvl1pPr>
          </a:lstStyle>
          <a:p>
            <a:pPr lvl="0"/>
            <a:endParaRPr lang="en-IN"/>
          </a:p>
        </p:txBody>
      </p:sp>
      <p:sp>
        <p:nvSpPr>
          <p:cNvPr id="6" name="Slide Number Placeholder 5">
            <a:extLst>
              <a:ext uri="{FF2B5EF4-FFF2-40B4-BE49-F238E27FC236}">
                <a16:creationId xmlns:a16="http://schemas.microsoft.com/office/drawing/2014/main" id="{4A64C1C5-6D5E-0B62-D295-E21C0A5D6637}"/>
              </a:ext>
            </a:extLst>
          </p:cNvPr>
          <p:cNvSpPr txBox="1">
            <a:spLocks noGrp="1"/>
          </p:cNvSpPr>
          <p:nvPr>
            <p:ph type="sldNum" sz="quarter" idx="8"/>
          </p:nvPr>
        </p:nvSpPr>
        <p:spPr/>
        <p:txBody>
          <a:bodyPr/>
          <a:lstStyle>
            <a:lvl1pPr>
              <a:defRPr/>
            </a:lvl1pPr>
          </a:lstStyle>
          <a:p>
            <a:pPr lvl="0"/>
            <a:fld id="{59DD3B43-ADCA-4D94-9126-77A2B30C99E8}" type="slidenum">
              <a:t>‹#›</a:t>
            </a:fld>
            <a:endParaRPr lang="en-IN"/>
          </a:p>
        </p:txBody>
      </p:sp>
    </p:spTree>
    <p:extLst>
      <p:ext uri="{BB962C8B-B14F-4D97-AF65-F5344CB8AC3E}">
        <p14:creationId xmlns:p14="http://schemas.microsoft.com/office/powerpoint/2010/main" val="901931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DB080-08E4-CC56-47D5-8C5E527A26D4}"/>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30020DA9-1AE8-32BA-46AB-80E822AB9539}"/>
              </a:ext>
            </a:extLst>
          </p:cNvPr>
          <p:cNvSpPr txBox="1">
            <a:spLocks noGrp="1"/>
          </p:cNvSpPr>
          <p:nvPr>
            <p:ph type="body" idx="1"/>
          </p:nvPr>
        </p:nvSpPr>
        <p:spPr>
          <a:xfrm>
            <a:off x="831847" y="4589465"/>
            <a:ext cx="10515600" cy="1500182"/>
          </a:xfrm>
        </p:spPr>
        <p:txBody>
          <a:bodyPr/>
          <a:lstStyle>
            <a:lvl1pPr marL="0" indent="0">
              <a:buNone/>
              <a:defRPr sz="2400">
                <a:solidFill>
                  <a:srgbClr val="767676"/>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21119370-5E35-7F95-F67C-58EBB9DABA75}"/>
              </a:ext>
            </a:extLst>
          </p:cNvPr>
          <p:cNvSpPr txBox="1">
            <a:spLocks noGrp="1"/>
          </p:cNvSpPr>
          <p:nvPr>
            <p:ph type="dt" sz="half" idx="7"/>
          </p:nvPr>
        </p:nvSpPr>
        <p:spPr/>
        <p:txBody>
          <a:bodyPr/>
          <a:lstStyle>
            <a:lvl1pPr>
              <a:defRPr/>
            </a:lvl1pPr>
          </a:lstStyle>
          <a:p>
            <a:pPr lvl="0"/>
            <a:fld id="{11BCAA95-525E-43F4-A28E-5A48702FDB5D}" type="datetime1">
              <a:rPr lang="en-IN"/>
              <a:pPr lvl="0"/>
              <a:t>05-03-2026</a:t>
            </a:fld>
            <a:endParaRPr lang="en-IN"/>
          </a:p>
        </p:txBody>
      </p:sp>
      <p:sp>
        <p:nvSpPr>
          <p:cNvPr id="5" name="Footer Placeholder 4">
            <a:extLst>
              <a:ext uri="{FF2B5EF4-FFF2-40B4-BE49-F238E27FC236}">
                <a16:creationId xmlns:a16="http://schemas.microsoft.com/office/drawing/2014/main" id="{659BE879-18C7-3DF5-7E10-EA2CC97AD953}"/>
              </a:ext>
            </a:extLst>
          </p:cNvPr>
          <p:cNvSpPr txBox="1">
            <a:spLocks noGrp="1"/>
          </p:cNvSpPr>
          <p:nvPr>
            <p:ph type="ftr" sz="quarter" idx="9"/>
          </p:nvPr>
        </p:nvSpPr>
        <p:spPr/>
        <p:txBody>
          <a:bodyPr/>
          <a:lstStyle>
            <a:lvl1pPr>
              <a:defRPr/>
            </a:lvl1pPr>
          </a:lstStyle>
          <a:p>
            <a:pPr lvl="0"/>
            <a:endParaRPr lang="en-IN"/>
          </a:p>
        </p:txBody>
      </p:sp>
      <p:sp>
        <p:nvSpPr>
          <p:cNvPr id="6" name="Slide Number Placeholder 5">
            <a:extLst>
              <a:ext uri="{FF2B5EF4-FFF2-40B4-BE49-F238E27FC236}">
                <a16:creationId xmlns:a16="http://schemas.microsoft.com/office/drawing/2014/main" id="{B82D69F4-6678-D438-BB52-255E0FC573B9}"/>
              </a:ext>
            </a:extLst>
          </p:cNvPr>
          <p:cNvSpPr txBox="1">
            <a:spLocks noGrp="1"/>
          </p:cNvSpPr>
          <p:nvPr>
            <p:ph type="sldNum" sz="quarter" idx="8"/>
          </p:nvPr>
        </p:nvSpPr>
        <p:spPr/>
        <p:txBody>
          <a:bodyPr/>
          <a:lstStyle>
            <a:lvl1pPr>
              <a:defRPr/>
            </a:lvl1pPr>
          </a:lstStyle>
          <a:p>
            <a:pPr lvl="0"/>
            <a:fld id="{B3765B60-E5D2-4A64-BDB8-85EF62CAA475}" type="slidenum">
              <a:t>‹#›</a:t>
            </a:fld>
            <a:endParaRPr lang="en-IN"/>
          </a:p>
        </p:txBody>
      </p:sp>
    </p:spTree>
    <p:extLst>
      <p:ext uri="{BB962C8B-B14F-4D97-AF65-F5344CB8AC3E}">
        <p14:creationId xmlns:p14="http://schemas.microsoft.com/office/powerpoint/2010/main" val="1625138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F9972-FE32-DA03-7F34-C76AD1BE1C87}"/>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2395739D-5CAB-BCB6-BB03-825CE610FE5F}"/>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D3D8C08-C999-C95A-996D-480763F958BB}"/>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6CE0BF6-0D6C-364D-3C1D-2BDC9ED3D24D}"/>
              </a:ext>
            </a:extLst>
          </p:cNvPr>
          <p:cNvSpPr txBox="1">
            <a:spLocks noGrp="1"/>
          </p:cNvSpPr>
          <p:nvPr>
            <p:ph type="dt" sz="half" idx="7"/>
          </p:nvPr>
        </p:nvSpPr>
        <p:spPr/>
        <p:txBody>
          <a:bodyPr/>
          <a:lstStyle>
            <a:lvl1pPr>
              <a:defRPr/>
            </a:lvl1pPr>
          </a:lstStyle>
          <a:p>
            <a:pPr lvl="0"/>
            <a:fld id="{AF30000A-25A5-4483-A4BE-E89F98577963}" type="datetime1">
              <a:rPr lang="en-IN"/>
              <a:pPr lvl="0"/>
              <a:t>05-03-2026</a:t>
            </a:fld>
            <a:endParaRPr lang="en-IN"/>
          </a:p>
        </p:txBody>
      </p:sp>
      <p:sp>
        <p:nvSpPr>
          <p:cNvPr id="6" name="Footer Placeholder 5">
            <a:extLst>
              <a:ext uri="{FF2B5EF4-FFF2-40B4-BE49-F238E27FC236}">
                <a16:creationId xmlns:a16="http://schemas.microsoft.com/office/drawing/2014/main" id="{C46ECD3F-E795-7883-CEDB-8C746FF1EF6D}"/>
              </a:ext>
            </a:extLst>
          </p:cNvPr>
          <p:cNvSpPr txBox="1">
            <a:spLocks noGrp="1"/>
          </p:cNvSpPr>
          <p:nvPr>
            <p:ph type="ftr" sz="quarter" idx="9"/>
          </p:nvPr>
        </p:nvSpPr>
        <p:spPr/>
        <p:txBody>
          <a:bodyPr/>
          <a:lstStyle>
            <a:lvl1pPr>
              <a:defRPr/>
            </a:lvl1pPr>
          </a:lstStyle>
          <a:p>
            <a:pPr lvl="0"/>
            <a:endParaRPr lang="en-IN"/>
          </a:p>
        </p:txBody>
      </p:sp>
      <p:sp>
        <p:nvSpPr>
          <p:cNvPr id="7" name="Slide Number Placeholder 6">
            <a:extLst>
              <a:ext uri="{FF2B5EF4-FFF2-40B4-BE49-F238E27FC236}">
                <a16:creationId xmlns:a16="http://schemas.microsoft.com/office/drawing/2014/main" id="{1113E275-CFF5-F3CD-AD5B-75661A5BAA81}"/>
              </a:ext>
            </a:extLst>
          </p:cNvPr>
          <p:cNvSpPr txBox="1">
            <a:spLocks noGrp="1"/>
          </p:cNvSpPr>
          <p:nvPr>
            <p:ph type="sldNum" sz="quarter" idx="8"/>
          </p:nvPr>
        </p:nvSpPr>
        <p:spPr/>
        <p:txBody>
          <a:bodyPr/>
          <a:lstStyle>
            <a:lvl1pPr>
              <a:defRPr/>
            </a:lvl1pPr>
          </a:lstStyle>
          <a:p>
            <a:pPr lvl="0"/>
            <a:fld id="{5325301C-A3C7-4142-A5A0-9E52C9A57BC4}" type="slidenum">
              <a:t>‹#›</a:t>
            </a:fld>
            <a:endParaRPr lang="en-IN"/>
          </a:p>
        </p:txBody>
      </p:sp>
    </p:spTree>
    <p:extLst>
      <p:ext uri="{BB962C8B-B14F-4D97-AF65-F5344CB8AC3E}">
        <p14:creationId xmlns:p14="http://schemas.microsoft.com/office/powerpoint/2010/main" val="1672534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22A27-79A4-08D7-C349-F8BFD7AAAFDD}"/>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B3B1565A-B99B-D3F0-ABE3-5BA0EEE79699}"/>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6EF5F622-D5DD-A25F-FF30-FEB2B78D423F}"/>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2ABDB3-E082-AA60-B7AF-9F5C62D03FC8}"/>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60690676-6657-BE35-30ED-AF6EF7114E4E}"/>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666547E-FCCC-7CA0-D45E-072B417630F3}"/>
              </a:ext>
            </a:extLst>
          </p:cNvPr>
          <p:cNvSpPr txBox="1">
            <a:spLocks noGrp="1"/>
          </p:cNvSpPr>
          <p:nvPr>
            <p:ph type="dt" sz="half" idx="7"/>
          </p:nvPr>
        </p:nvSpPr>
        <p:spPr/>
        <p:txBody>
          <a:bodyPr/>
          <a:lstStyle>
            <a:lvl1pPr>
              <a:defRPr/>
            </a:lvl1pPr>
          </a:lstStyle>
          <a:p>
            <a:pPr lvl="0"/>
            <a:fld id="{EEC584EC-CA7A-4B0D-82FA-031277604BD8}" type="datetime1">
              <a:rPr lang="en-IN"/>
              <a:pPr lvl="0"/>
              <a:t>05-03-2026</a:t>
            </a:fld>
            <a:endParaRPr lang="en-IN"/>
          </a:p>
        </p:txBody>
      </p:sp>
      <p:sp>
        <p:nvSpPr>
          <p:cNvPr id="8" name="Footer Placeholder 7">
            <a:extLst>
              <a:ext uri="{FF2B5EF4-FFF2-40B4-BE49-F238E27FC236}">
                <a16:creationId xmlns:a16="http://schemas.microsoft.com/office/drawing/2014/main" id="{A6E760B9-39A8-4B68-DFBF-5260AF38F909}"/>
              </a:ext>
            </a:extLst>
          </p:cNvPr>
          <p:cNvSpPr txBox="1">
            <a:spLocks noGrp="1"/>
          </p:cNvSpPr>
          <p:nvPr>
            <p:ph type="ftr" sz="quarter" idx="9"/>
          </p:nvPr>
        </p:nvSpPr>
        <p:spPr/>
        <p:txBody>
          <a:bodyPr/>
          <a:lstStyle>
            <a:lvl1pPr>
              <a:defRPr/>
            </a:lvl1pPr>
          </a:lstStyle>
          <a:p>
            <a:pPr lvl="0"/>
            <a:endParaRPr lang="en-IN"/>
          </a:p>
        </p:txBody>
      </p:sp>
      <p:sp>
        <p:nvSpPr>
          <p:cNvPr id="9" name="Slide Number Placeholder 8">
            <a:extLst>
              <a:ext uri="{FF2B5EF4-FFF2-40B4-BE49-F238E27FC236}">
                <a16:creationId xmlns:a16="http://schemas.microsoft.com/office/drawing/2014/main" id="{19D99586-4F6D-7643-A728-741F9F08F4BE}"/>
              </a:ext>
            </a:extLst>
          </p:cNvPr>
          <p:cNvSpPr txBox="1">
            <a:spLocks noGrp="1"/>
          </p:cNvSpPr>
          <p:nvPr>
            <p:ph type="sldNum" sz="quarter" idx="8"/>
          </p:nvPr>
        </p:nvSpPr>
        <p:spPr/>
        <p:txBody>
          <a:bodyPr/>
          <a:lstStyle>
            <a:lvl1pPr>
              <a:defRPr/>
            </a:lvl1pPr>
          </a:lstStyle>
          <a:p>
            <a:pPr lvl="0"/>
            <a:fld id="{8FE353A2-F171-4768-B102-265C34753532}" type="slidenum">
              <a:t>‹#›</a:t>
            </a:fld>
            <a:endParaRPr lang="en-IN"/>
          </a:p>
        </p:txBody>
      </p:sp>
    </p:spTree>
    <p:extLst>
      <p:ext uri="{BB962C8B-B14F-4D97-AF65-F5344CB8AC3E}">
        <p14:creationId xmlns:p14="http://schemas.microsoft.com/office/powerpoint/2010/main" val="3642976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0E96-CE5F-B0B4-D842-056D1C3A4469}"/>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Date Placeholder 2">
            <a:extLst>
              <a:ext uri="{FF2B5EF4-FFF2-40B4-BE49-F238E27FC236}">
                <a16:creationId xmlns:a16="http://schemas.microsoft.com/office/drawing/2014/main" id="{8B0463DE-86BC-2CCB-D617-E5AD2420000F}"/>
              </a:ext>
            </a:extLst>
          </p:cNvPr>
          <p:cNvSpPr txBox="1">
            <a:spLocks noGrp="1"/>
          </p:cNvSpPr>
          <p:nvPr>
            <p:ph type="dt" sz="half" idx="7"/>
          </p:nvPr>
        </p:nvSpPr>
        <p:spPr/>
        <p:txBody>
          <a:bodyPr/>
          <a:lstStyle>
            <a:lvl1pPr>
              <a:defRPr/>
            </a:lvl1pPr>
          </a:lstStyle>
          <a:p>
            <a:pPr lvl="0"/>
            <a:fld id="{7E93A718-95ED-4950-A6BD-7AC4CAECB78C}" type="datetime1">
              <a:rPr lang="en-IN"/>
              <a:pPr lvl="0"/>
              <a:t>05-03-2026</a:t>
            </a:fld>
            <a:endParaRPr lang="en-IN"/>
          </a:p>
        </p:txBody>
      </p:sp>
      <p:sp>
        <p:nvSpPr>
          <p:cNvPr id="4" name="Footer Placeholder 3">
            <a:extLst>
              <a:ext uri="{FF2B5EF4-FFF2-40B4-BE49-F238E27FC236}">
                <a16:creationId xmlns:a16="http://schemas.microsoft.com/office/drawing/2014/main" id="{50600AB5-2B51-1D3E-F480-01ED817F2362}"/>
              </a:ext>
            </a:extLst>
          </p:cNvPr>
          <p:cNvSpPr txBox="1">
            <a:spLocks noGrp="1"/>
          </p:cNvSpPr>
          <p:nvPr>
            <p:ph type="ftr" sz="quarter" idx="9"/>
          </p:nvPr>
        </p:nvSpPr>
        <p:spPr/>
        <p:txBody>
          <a:bodyPr/>
          <a:lstStyle>
            <a:lvl1pPr>
              <a:defRPr/>
            </a:lvl1pPr>
          </a:lstStyle>
          <a:p>
            <a:pPr lvl="0"/>
            <a:endParaRPr lang="en-IN"/>
          </a:p>
        </p:txBody>
      </p:sp>
      <p:sp>
        <p:nvSpPr>
          <p:cNvPr id="5" name="Slide Number Placeholder 4">
            <a:extLst>
              <a:ext uri="{FF2B5EF4-FFF2-40B4-BE49-F238E27FC236}">
                <a16:creationId xmlns:a16="http://schemas.microsoft.com/office/drawing/2014/main" id="{99F7D610-39DD-7094-9DC7-FB49B73E5851}"/>
              </a:ext>
            </a:extLst>
          </p:cNvPr>
          <p:cNvSpPr txBox="1">
            <a:spLocks noGrp="1"/>
          </p:cNvSpPr>
          <p:nvPr>
            <p:ph type="sldNum" sz="quarter" idx="8"/>
          </p:nvPr>
        </p:nvSpPr>
        <p:spPr/>
        <p:txBody>
          <a:bodyPr/>
          <a:lstStyle>
            <a:lvl1pPr>
              <a:defRPr/>
            </a:lvl1pPr>
          </a:lstStyle>
          <a:p>
            <a:pPr lvl="0"/>
            <a:fld id="{F95439C8-8676-44A5-BC48-04FF205166A9}" type="slidenum">
              <a:t>‹#›</a:t>
            </a:fld>
            <a:endParaRPr lang="en-IN"/>
          </a:p>
        </p:txBody>
      </p:sp>
    </p:spTree>
    <p:extLst>
      <p:ext uri="{BB962C8B-B14F-4D97-AF65-F5344CB8AC3E}">
        <p14:creationId xmlns:p14="http://schemas.microsoft.com/office/powerpoint/2010/main" val="2310405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0B4788-0717-9B8B-AC80-6417C9F7AD40}"/>
              </a:ext>
            </a:extLst>
          </p:cNvPr>
          <p:cNvSpPr txBox="1">
            <a:spLocks noGrp="1"/>
          </p:cNvSpPr>
          <p:nvPr>
            <p:ph type="dt" sz="half" idx="7"/>
          </p:nvPr>
        </p:nvSpPr>
        <p:spPr/>
        <p:txBody>
          <a:bodyPr/>
          <a:lstStyle>
            <a:lvl1pPr>
              <a:defRPr/>
            </a:lvl1pPr>
          </a:lstStyle>
          <a:p>
            <a:pPr lvl="0"/>
            <a:fld id="{A2434793-7102-4244-B10E-8AB6CCFDA746}" type="datetime1">
              <a:rPr lang="en-IN"/>
              <a:pPr lvl="0"/>
              <a:t>05-03-2026</a:t>
            </a:fld>
            <a:endParaRPr lang="en-IN"/>
          </a:p>
        </p:txBody>
      </p:sp>
      <p:sp>
        <p:nvSpPr>
          <p:cNvPr id="3" name="Footer Placeholder 2">
            <a:extLst>
              <a:ext uri="{FF2B5EF4-FFF2-40B4-BE49-F238E27FC236}">
                <a16:creationId xmlns:a16="http://schemas.microsoft.com/office/drawing/2014/main" id="{62BA3954-6828-1986-BEE4-3AF238D8D39F}"/>
              </a:ext>
            </a:extLst>
          </p:cNvPr>
          <p:cNvSpPr txBox="1">
            <a:spLocks noGrp="1"/>
          </p:cNvSpPr>
          <p:nvPr>
            <p:ph type="ftr" sz="quarter" idx="9"/>
          </p:nvPr>
        </p:nvSpPr>
        <p:spPr/>
        <p:txBody>
          <a:bodyPr/>
          <a:lstStyle>
            <a:lvl1pPr>
              <a:defRPr/>
            </a:lvl1pPr>
          </a:lstStyle>
          <a:p>
            <a:pPr lvl="0"/>
            <a:endParaRPr lang="en-IN"/>
          </a:p>
        </p:txBody>
      </p:sp>
      <p:sp>
        <p:nvSpPr>
          <p:cNvPr id="4" name="Slide Number Placeholder 3">
            <a:extLst>
              <a:ext uri="{FF2B5EF4-FFF2-40B4-BE49-F238E27FC236}">
                <a16:creationId xmlns:a16="http://schemas.microsoft.com/office/drawing/2014/main" id="{E201FC1C-C518-35D5-FD17-41BBB33ABCC0}"/>
              </a:ext>
            </a:extLst>
          </p:cNvPr>
          <p:cNvSpPr txBox="1">
            <a:spLocks noGrp="1"/>
          </p:cNvSpPr>
          <p:nvPr>
            <p:ph type="sldNum" sz="quarter" idx="8"/>
          </p:nvPr>
        </p:nvSpPr>
        <p:spPr/>
        <p:txBody>
          <a:bodyPr/>
          <a:lstStyle>
            <a:lvl1pPr>
              <a:defRPr/>
            </a:lvl1pPr>
          </a:lstStyle>
          <a:p>
            <a:pPr lvl="0"/>
            <a:fld id="{B9AB82C5-5583-4505-A15C-92A0C248B6BA}" type="slidenum">
              <a:t>‹#›</a:t>
            </a:fld>
            <a:endParaRPr lang="en-IN"/>
          </a:p>
        </p:txBody>
      </p:sp>
    </p:spTree>
    <p:extLst>
      <p:ext uri="{BB962C8B-B14F-4D97-AF65-F5344CB8AC3E}">
        <p14:creationId xmlns:p14="http://schemas.microsoft.com/office/powerpoint/2010/main" val="1998440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B5599-8FE5-2BC1-63E0-8B434B26C898}"/>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02942ECC-2CFA-51D3-D9D0-550DB762E9A1}"/>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A13558-961C-8F6C-B41A-9C7FD3AD92BD}"/>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BFAE7294-D20C-8FB3-5D33-E82181D737A4}"/>
              </a:ext>
            </a:extLst>
          </p:cNvPr>
          <p:cNvSpPr txBox="1">
            <a:spLocks noGrp="1"/>
          </p:cNvSpPr>
          <p:nvPr>
            <p:ph type="dt" sz="half" idx="7"/>
          </p:nvPr>
        </p:nvSpPr>
        <p:spPr/>
        <p:txBody>
          <a:bodyPr/>
          <a:lstStyle>
            <a:lvl1pPr>
              <a:defRPr/>
            </a:lvl1pPr>
          </a:lstStyle>
          <a:p>
            <a:pPr lvl="0"/>
            <a:fld id="{A164FBA1-431A-44B0-A65F-59C2FC9ECF99}" type="datetime1">
              <a:rPr lang="en-IN"/>
              <a:pPr lvl="0"/>
              <a:t>05-03-2026</a:t>
            </a:fld>
            <a:endParaRPr lang="en-IN"/>
          </a:p>
        </p:txBody>
      </p:sp>
      <p:sp>
        <p:nvSpPr>
          <p:cNvPr id="6" name="Footer Placeholder 5">
            <a:extLst>
              <a:ext uri="{FF2B5EF4-FFF2-40B4-BE49-F238E27FC236}">
                <a16:creationId xmlns:a16="http://schemas.microsoft.com/office/drawing/2014/main" id="{C4C1BC45-E21E-C9DF-2170-649266AE7D1A}"/>
              </a:ext>
            </a:extLst>
          </p:cNvPr>
          <p:cNvSpPr txBox="1">
            <a:spLocks noGrp="1"/>
          </p:cNvSpPr>
          <p:nvPr>
            <p:ph type="ftr" sz="quarter" idx="9"/>
          </p:nvPr>
        </p:nvSpPr>
        <p:spPr/>
        <p:txBody>
          <a:bodyPr/>
          <a:lstStyle>
            <a:lvl1pPr>
              <a:defRPr/>
            </a:lvl1pPr>
          </a:lstStyle>
          <a:p>
            <a:pPr lvl="0"/>
            <a:endParaRPr lang="en-IN"/>
          </a:p>
        </p:txBody>
      </p:sp>
      <p:sp>
        <p:nvSpPr>
          <p:cNvPr id="7" name="Slide Number Placeholder 6">
            <a:extLst>
              <a:ext uri="{FF2B5EF4-FFF2-40B4-BE49-F238E27FC236}">
                <a16:creationId xmlns:a16="http://schemas.microsoft.com/office/drawing/2014/main" id="{93708AFC-8B8C-9AF5-8CB6-CEE814B2BA60}"/>
              </a:ext>
            </a:extLst>
          </p:cNvPr>
          <p:cNvSpPr txBox="1">
            <a:spLocks noGrp="1"/>
          </p:cNvSpPr>
          <p:nvPr>
            <p:ph type="sldNum" sz="quarter" idx="8"/>
          </p:nvPr>
        </p:nvSpPr>
        <p:spPr/>
        <p:txBody>
          <a:bodyPr/>
          <a:lstStyle>
            <a:lvl1pPr>
              <a:defRPr/>
            </a:lvl1pPr>
          </a:lstStyle>
          <a:p>
            <a:pPr lvl="0"/>
            <a:fld id="{1E8598D1-0EC1-4E4D-B494-094B3E394B16}" type="slidenum">
              <a:t>‹#›</a:t>
            </a:fld>
            <a:endParaRPr lang="en-IN"/>
          </a:p>
        </p:txBody>
      </p:sp>
    </p:spTree>
    <p:extLst>
      <p:ext uri="{BB962C8B-B14F-4D97-AF65-F5344CB8AC3E}">
        <p14:creationId xmlns:p14="http://schemas.microsoft.com/office/powerpoint/2010/main" val="539667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1CC78-5C8E-BB60-58E6-BF451CE9BE0E}"/>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IN"/>
          </a:p>
        </p:txBody>
      </p:sp>
      <p:sp>
        <p:nvSpPr>
          <p:cNvPr id="3" name="Picture Placeholder 2">
            <a:extLst>
              <a:ext uri="{FF2B5EF4-FFF2-40B4-BE49-F238E27FC236}">
                <a16:creationId xmlns:a16="http://schemas.microsoft.com/office/drawing/2014/main" id="{FC19E19E-A73C-E215-DDCD-7C91DB28A555}"/>
              </a:ext>
            </a:extLst>
          </p:cNvPr>
          <p:cNvSpPr txBox="1">
            <a:spLocks noGrp="1"/>
          </p:cNvSpPr>
          <p:nvPr>
            <p:ph type="pic" idx="1"/>
          </p:nvPr>
        </p:nvSpPr>
        <p:spPr>
          <a:xfrm>
            <a:off x="5183184" y="987423"/>
            <a:ext cx="6172200" cy="4873623"/>
          </a:xfrm>
        </p:spPr>
        <p:txBody>
          <a:bodyPr/>
          <a:lstStyle>
            <a:lvl1pPr marL="0" indent="0">
              <a:buNone/>
              <a:defRPr lang="en-IN" sz="3200"/>
            </a:lvl1pPr>
          </a:lstStyle>
          <a:p>
            <a:pPr lvl="0"/>
            <a:endParaRPr lang="en-IN"/>
          </a:p>
        </p:txBody>
      </p:sp>
      <p:sp>
        <p:nvSpPr>
          <p:cNvPr id="4" name="Text Placeholder 3">
            <a:extLst>
              <a:ext uri="{FF2B5EF4-FFF2-40B4-BE49-F238E27FC236}">
                <a16:creationId xmlns:a16="http://schemas.microsoft.com/office/drawing/2014/main" id="{A297E008-B130-5911-2CCA-448419081876}"/>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C7B5EB52-E790-62D7-02C5-3FE3A4FC5FE2}"/>
              </a:ext>
            </a:extLst>
          </p:cNvPr>
          <p:cNvSpPr txBox="1">
            <a:spLocks noGrp="1"/>
          </p:cNvSpPr>
          <p:nvPr>
            <p:ph type="dt" sz="half" idx="7"/>
          </p:nvPr>
        </p:nvSpPr>
        <p:spPr/>
        <p:txBody>
          <a:bodyPr/>
          <a:lstStyle>
            <a:lvl1pPr>
              <a:defRPr/>
            </a:lvl1pPr>
          </a:lstStyle>
          <a:p>
            <a:pPr lvl="0"/>
            <a:fld id="{9BAB4130-3B03-45A4-8CDD-AB7EFB95D507}" type="datetime1">
              <a:rPr lang="en-IN"/>
              <a:pPr lvl="0"/>
              <a:t>05-03-2026</a:t>
            </a:fld>
            <a:endParaRPr lang="en-IN"/>
          </a:p>
        </p:txBody>
      </p:sp>
      <p:sp>
        <p:nvSpPr>
          <p:cNvPr id="6" name="Footer Placeholder 5">
            <a:extLst>
              <a:ext uri="{FF2B5EF4-FFF2-40B4-BE49-F238E27FC236}">
                <a16:creationId xmlns:a16="http://schemas.microsoft.com/office/drawing/2014/main" id="{E4D5EA88-D3E6-FE7A-1580-ED6551A23397}"/>
              </a:ext>
            </a:extLst>
          </p:cNvPr>
          <p:cNvSpPr txBox="1">
            <a:spLocks noGrp="1"/>
          </p:cNvSpPr>
          <p:nvPr>
            <p:ph type="ftr" sz="quarter" idx="9"/>
          </p:nvPr>
        </p:nvSpPr>
        <p:spPr/>
        <p:txBody>
          <a:bodyPr/>
          <a:lstStyle>
            <a:lvl1pPr>
              <a:defRPr/>
            </a:lvl1pPr>
          </a:lstStyle>
          <a:p>
            <a:pPr lvl="0"/>
            <a:endParaRPr lang="en-IN"/>
          </a:p>
        </p:txBody>
      </p:sp>
      <p:sp>
        <p:nvSpPr>
          <p:cNvPr id="7" name="Slide Number Placeholder 6">
            <a:extLst>
              <a:ext uri="{FF2B5EF4-FFF2-40B4-BE49-F238E27FC236}">
                <a16:creationId xmlns:a16="http://schemas.microsoft.com/office/drawing/2014/main" id="{AF93C4C6-C58E-3331-02C6-2C614D608C86}"/>
              </a:ext>
            </a:extLst>
          </p:cNvPr>
          <p:cNvSpPr txBox="1">
            <a:spLocks noGrp="1"/>
          </p:cNvSpPr>
          <p:nvPr>
            <p:ph type="sldNum" sz="quarter" idx="8"/>
          </p:nvPr>
        </p:nvSpPr>
        <p:spPr/>
        <p:txBody>
          <a:bodyPr/>
          <a:lstStyle>
            <a:lvl1pPr>
              <a:defRPr/>
            </a:lvl1pPr>
          </a:lstStyle>
          <a:p>
            <a:pPr lvl="0"/>
            <a:fld id="{3CDEA4E9-AAFB-4929-9094-169430AD3E46}" type="slidenum">
              <a:t>‹#›</a:t>
            </a:fld>
            <a:endParaRPr lang="en-IN"/>
          </a:p>
        </p:txBody>
      </p:sp>
    </p:spTree>
    <p:extLst>
      <p:ext uri="{BB962C8B-B14F-4D97-AF65-F5344CB8AC3E}">
        <p14:creationId xmlns:p14="http://schemas.microsoft.com/office/powerpoint/2010/main" val="2428992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B7C7B-2320-E661-FA47-45AE65CD04C0}"/>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8872BECC-9A6A-EBDD-63D3-5E16FEC67D4D}"/>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80814F-2B03-21D4-3561-395B06447317}"/>
              </a:ext>
            </a:extLst>
          </p:cNvPr>
          <p:cNvSpPr txBox="1">
            <a:spLocks noGrp="1"/>
          </p:cNvSpPr>
          <p:nvPr>
            <p:ph type="dt" sz="half" idx="7"/>
          </p:nvPr>
        </p:nvSpPr>
        <p:spPr/>
        <p:txBody>
          <a:bodyPr/>
          <a:lstStyle>
            <a:lvl1pPr>
              <a:defRPr/>
            </a:lvl1pPr>
          </a:lstStyle>
          <a:p>
            <a:pPr lvl="0"/>
            <a:fld id="{54A97FB0-4B72-4312-8C4F-B52CA418BFD1}" type="datetime1">
              <a:rPr lang="en-IN"/>
              <a:pPr lvl="0"/>
              <a:t>05-03-2026</a:t>
            </a:fld>
            <a:endParaRPr lang="en-IN"/>
          </a:p>
        </p:txBody>
      </p:sp>
      <p:sp>
        <p:nvSpPr>
          <p:cNvPr id="5" name="Footer Placeholder 4">
            <a:extLst>
              <a:ext uri="{FF2B5EF4-FFF2-40B4-BE49-F238E27FC236}">
                <a16:creationId xmlns:a16="http://schemas.microsoft.com/office/drawing/2014/main" id="{3BEF4AB7-1585-F71D-68D7-24318179DBB7}"/>
              </a:ext>
            </a:extLst>
          </p:cNvPr>
          <p:cNvSpPr txBox="1">
            <a:spLocks noGrp="1"/>
          </p:cNvSpPr>
          <p:nvPr>
            <p:ph type="ftr" sz="quarter" idx="9"/>
          </p:nvPr>
        </p:nvSpPr>
        <p:spPr/>
        <p:txBody>
          <a:bodyPr/>
          <a:lstStyle>
            <a:lvl1pPr>
              <a:defRPr/>
            </a:lvl1pPr>
          </a:lstStyle>
          <a:p>
            <a:pPr lvl="0"/>
            <a:endParaRPr lang="en-IN"/>
          </a:p>
        </p:txBody>
      </p:sp>
      <p:sp>
        <p:nvSpPr>
          <p:cNvPr id="6" name="Slide Number Placeholder 5">
            <a:extLst>
              <a:ext uri="{FF2B5EF4-FFF2-40B4-BE49-F238E27FC236}">
                <a16:creationId xmlns:a16="http://schemas.microsoft.com/office/drawing/2014/main" id="{BA2BA828-45C7-B9E3-315C-CCBE7AEB1163}"/>
              </a:ext>
            </a:extLst>
          </p:cNvPr>
          <p:cNvSpPr txBox="1">
            <a:spLocks noGrp="1"/>
          </p:cNvSpPr>
          <p:nvPr>
            <p:ph type="sldNum" sz="quarter" idx="8"/>
          </p:nvPr>
        </p:nvSpPr>
        <p:spPr/>
        <p:txBody>
          <a:bodyPr/>
          <a:lstStyle>
            <a:lvl1pPr>
              <a:defRPr/>
            </a:lvl1pPr>
          </a:lstStyle>
          <a:p>
            <a:pPr lvl="0"/>
            <a:fld id="{9F76FD96-3E2E-40A3-83FC-8DCC8092D672}" type="slidenum">
              <a:t>‹#›</a:t>
            </a:fld>
            <a:endParaRPr lang="en-IN"/>
          </a:p>
        </p:txBody>
      </p:sp>
    </p:spTree>
    <p:extLst>
      <p:ext uri="{BB962C8B-B14F-4D97-AF65-F5344CB8AC3E}">
        <p14:creationId xmlns:p14="http://schemas.microsoft.com/office/powerpoint/2010/main" val="1199596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F3E734-6457-BD29-8C9A-26BEDE9AB26C}"/>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B9316835-DA1D-C882-1CD0-17667A1E7F68}"/>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0B9F92-C6A8-977B-CA6F-307FD3F75239}"/>
              </a:ext>
            </a:extLst>
          </p:cNvPr>
          <p:cNvSpPr txBox="1">
            <a:spLocks noGrp="1"/>
          </p:cNvSpPr>
          <p:nvPr>
            <p:ph type="dt" sz="half" idx="7"/>
          </p:nvPr>
        </p:nvSpPr>
        <p:spPr/>
        <p:txBody>
          <a:bodyPr/>
          <a:lstStyle>
            <a:lvl1pPr>
              <a:defRPr/>
            </a:lvl1pPr>
          </a:lstStyle>
          <a:p>
            <a:pPr lvl="0"/>
            <a:fld id="{49746436-B872-4C1C-92BD-21CD79B48E74}" type="datetime1">
              <a:rPr lang="en-IN"/>
              <a:pPr lvl="0"/>
              <a:t>05-03-2026</a:t>
            </a:fld>
            <a:endParaRPr lang="en-IN"/>
          </a:p>
        </p:txBody>
      </p:sp>
      <p:sp>
        <p:nvSpPr>
          <p:cNvPr id="5" name="Footer Placeholder 4">
            <a:extLst>
              <a:ext uri="{FF2B5EF4-FFF2-40B4-BE49-F238E27FC236}">
                <a16:creationId xmlns:a16="http://schemas.microsoft.com/office/drawing/2014/main" id="{269102BE-8397-1933-3BED-02212A009E9C}"/>
              </a:ext>
            </a:extLst>
          </p:cNvPr>
          <p:cNvSpPr txBox="1">
            <a:spLocks noGrp="1"/>
          </p:cNvSpPr>
          <p:nvPr>
            <p:ph type="ftr" sz="quarter" idx="9"/>
          </p:nvPr>
        </p:nvSpPr>
        <p:spPr/>
        <p:txBody>
          <a:bodyPr/>
          <a:lstStyle>
            <a:lvl1pPr>
              <a:defRPr/>
            </a:lvl1pPr>
          </a:lstStyle>
          <a:p>
            <a:pPr lvl="0"/>
            <a:endParaRPr lang="en-IN"/>
          </a:p>
        </p:txBody>
      </p:sp>
      <p:sp>
        <p:nvSpPr>
          <p:cNvPr id="6" name="Slide Number Placeholder 5">
            <a:extLst>
              <a:ext uri="{FF2B5EF4-FFF2-40B4-BE49-F238E27FC236}">
                <a16:creationId xmlns:a16="http://schemas.microsoft.com/office/drawing/2014/main" id="{F6AD95FF-61CE-FC8C-FAB3-5CD6CC720C71}"/>
              </a:ext>
            </a:extLst>
          </p:cNvPr>
          <p:cNvSpPr txBox="1">
            <a:spLocks noGrp="1"/>
          </p:cNvSpPr>
          <p:nvPr>
            <p:ph type="sldNum" sz="quarter" idx="8"/>
          </p:nvPr>
        </p:nvSpPr>
        <p:spPr/>
        <p:txBody>
          <a:bodyPr/>
          <a:lstStyle>
            <a:lvl1pPr>
              <a:defRPr/>
            </a:lvl1pPr>
          </a:lstStyle>
          <a:p>
            <a:pPr lvl="0"/>
            <a:fld id="{CD8B3118-C37E-41CF-AF79-639CED5770C9}" type="slidenum">
              <a:t>‹#›</a:t>
            </a:fld>
            <a:endParaRPr lang="en-IN"/>
          </a:p>
        </p:txBody>
      </p:sp>
    </p:spTree>
    <p:extLst>
      <p:ext uri="{BB962C8B-B14F-4D97-AF65-F5344CB8AC3E}">
        <p14:creationId xmlns:p14="http://schemas.microsoft.com/office/powerpoint/2010/main" val="21552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810304-AF89-AA2E-0B01-0240FA6817AC}"/>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D0DE4426-6D93-1955-4B33-60FCF6B93926}"/>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388025-67E0-EA44-5D5C-55EA28E0EAFC}"/>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IN" sz="1200" b="0" i="0" u="none" strike="noStrike" kern="1200" cap="none" spc="0" baseline="0">
                <a:solidFill>
                  <a:srgbClr val="767676"/>
                </a:solidFill>
                <a:uFillTx/>
                <a:latin typeface="Aptos"/>
              </a:defRPr>
            </a:lvl1pPr>
          </a:lstStyle>
          <a:p>
            <a:pPr lvl="0"/>
            <a:fld id="{CD141CEA-2F3C-44D3-84FC-30ECED96DBB8}" type="datetime1">
              <a:rPr lang="en-IN"/>
              <a:pPr lvl="0"/>
              <a:t>05-03-2026</a:t>
            </a:fld>
            <a:endParaRPr lang="en-IN"/>
          </a:p>
        </p:txBody>
      </p:sp>
      <p:sp>
        <p:nvSpPr>
          <p:cNvPr id="5" name="Footer Placeholder 4">
            <a:extLst>
              <a:ext uri="{FF2B5EF4-FFF2-40B4-BE49-F238E27FC236}">
                <a16:creationId xmlns:a16="http://schemas.microsoft.com/office/drawing/2014/main" id="{AFD653AE-490F-D0CA-76CD-4471923722FA}"/>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IN" sz="1200" b="0" i="0" u="none" strike="noStrike" kern="1200" cap="none" spc="0" baseline="0">
                <a:solidFill>
                  <a:srgbClr val="767676"/>
                </a:solidFill>
                <a:uFillTx/>
                <a:latin typeface="Aptos"/>
              </a:defRPr>
            </a:lvl1pPr>
          </a:lstStyle>
          <a:p>
            <a:pPr lvl="0"/>
            <a:endParaRPr lang="en-IN"/>
          </a:p>
        </p:txBody>
      </p:sp>
      <p:sp>
        <p:nvSpPr>
          <p:cNvPr id="6" name="Slide Number Placeholder 5">
            <a:extLst>
              <a:ext uri="{FF2B5EF4-FFF2-40B4-BE49-F238E27FC236}">
                <a16:creationId xmlns:a16="http://schemas.microsoft.com/office/drawing/2014/main" id="{41CAEB1D-DAE5-9945-EAE8-2ACE36895702}"/>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IN" sz="1200" b="0" i="0" u="none" strike="noStrike" kern="1200" cap="none" spc="0" baseline="0">
                <a:solidFill>
                  <a:srgbClr val="767676"/>
                </a:solidFill>
                <a:uFillTx/>
                <a:latin typeface="Aptos"/>
              </a:defRPr>
            </a:lvl1pPr>
          </a:lstStyle>
          <a:p>
            <a:pPr lvl="0"/>
            <a:fld id="{3CD178E7-A2D1-4777-809B-F5B5F76C1FBA}" type="slidenum">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Aptos Display"/>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6CE7-E680-21C1-CB85-27E160808E76}"/>
              </a:ext>
            </a:extLst>
          </p:cNvPr>
          <p:cNvSpPr txBox="1">
            <a:spLocks noGrp="1"/>
          </p:cNvSpPr>
          <p:nvPr>
            <p:ph type="ctrTitle"/>
          </p:nvPr>
        </p:nvSpPr>
        <p:spPr>
          <a:xfrm>
            <a:off x="1524003" y="210312"/>
            <a:ext cx="9144000" cy="996696"/>
          </a:xfrm>
        </p:spPr>
        <p:txBody>
          <a:bodyPr/>
          <a:lstStyle/>
          <a:p>
            <a:pPr lvl="0"/>
            <a:r>
              <a:rPr lang="en-US" sz="2800" b="1"/>
              <a:t>HyMedia: Cloud-Native Multimedia Sharing Platform</a:t>
            </a:r>
            <a:br>
              <a:rPr lang="en-US" sz="2000"/>
            </a:br>
            <a:r>
              <a:rPr lang="en-US" sz="1600"/>
              <a:t>A scalable multimedia platform supporting images, videos, audio and GIF media with advanced search, privacy controls and creator monetization.</a:t>
            </a:r>
            <a:endParaRPr lang="en-IN" sz="1600"/>
          </a:p>
        </p:txBody>
      </p:sp>
      <p:sp>
        <p:nvSpPr>
          <p:cNvPr id="3" name="Subtitle 2">
            <a:extLst>
              <a:ext uri="{FF2B5EF4-FFF2-40B4-BE49-F238E27FC236}">
                <a16:creationId xmlns:a16="http://schemas.microsoft.com/office/drawing/2014/main" id="{1AA89DE2-6041-5581-FDE5-C75FD471EE4F}"/>
              </a:ext>
            </a:extLst>
          </p:cNvPr>
          <p:cNvSpPr txBox="1">
            <a:spLocks noGrp="1"/>
          </p:cNvSpPr>
          <p:nvPr>
            <p:ph type="subTitle" idx="1"/>
          </p:nvPr>
        </p:nvSpPr>
        <p:spPr>
          <a:xfrm>
            <a:off x="1524003" y="1499616"/>
            <a:ext cx="9144000" cy="4599432"/>
          </a:xfrm>
        </p:spPr>
        <p:txBody>
          <a:bodyPr anchorCtr="0"/>
          <a:lstStyle/>
          <a:p>
            <a:pPr lvl="0" algn="l"/>
            <a:r>
              <a:rPr lang="en-IN" sz="1800"/>
              <a:t>Module: COM682 – Cloud Native Development</a:t>
            </a:r>
            <a:br>
              <a:rPr lang="en-IN" sz="1800"/>
            </a:br>
            <a:r>
              <a:rPr lang="en-IN" sz="1800"/>
              <a:t>Student: Abdulrehman Mohamedrafiq Vohra</a:t>
            </a:r>
            <a:br>
              <a:rPr lang="en-IN" sz="1800"/>
            </a:br>
            <a:r>
              <a:rPr lang="en-IN" sz="1800"/>
              <a:t>University: Ulster University London</a:t>
            </a:r>
          </a:p>
          <a:p>
            <a:pPr lvl="0" algn="l"/>
            <a:endParaRPr lang="en-IN" sz="1800"/>
          </a:p>
          <a:p>
            <a:pPr lvl="0" algn="l"/>
            <a:r>
              <a:rPr lang="en-IN" sz="1800"/>
              <a:t>System Overview</a:t>
            </a:r>
          </a:p>
          <a:p>
            <a:pPr lvl="0" algn="l"/>
            <a:r>
              <a:rPr lang="en-IN" sz="1800"/>
              <a:t>HyMedia is designed as a cloud-native multimedia sharing system deployed on Microsoft Azure. The platform allows users to upload and interact with multimedia content while supporting advanced features such as tagging, privacy controls, sensitive content filtering, and premium creator subscriptions.</a:t>
            </a:r>
          </a:p>
          <a:p>
            <a:pPr lvl="0" algn="l"/>
            <a:r>
              <a:rPr lang="en-IN" sz="1800"/>
              <a:t>The architecture uses serverless computing, REST APIs, scalable storage and asynchronous processing pipelines to ensure performance and scalability.</a:t>
            </a:r>
          </a:p>
          <a:p>
            <a:pPr lvl="0"/>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C329F-BA84-D876-EEA2-B257B713FD3E}"/>
              </a:ext>
            </a:extLst>
          </p:cNvPr>
          <p:cNvSpPr>
            <a:spLocks noGrp="1"/>
          </p:cNvSpPr>
          <p:nvPr>
            <p:ph type="title"/>
          </p:nvPr>
        </p:nvSpPr>
        <p:spPr/>
        <p:txBody>
          <a:bodyPr/>
          <a:lstStyle/>
          <a:p>
            <a:r>
              <a:rPr lang="en-IN" dirty="0"/>
              <a:t>Slide 2 — Introduction &amp; Problem Definition</a:t>
            </a:r>
          </a:p>
        </p:txBody>
      </p:sp>
      <p:sp>
        <p:nvSpPr>
          <p:cNvPr id="3" name="Content Placeholder 2">
            <a:extLst>
              <a:ext uri="{FF2B5EF4-FFF2-40B4-BE49-F238E27FC236}">
                <a16:creationId xmlns:a16="http://schemas.microsoft.com/office/drawing/2014/main" id="{6EC4C8E0-46EB-7325-8FAC-11A116751EDE}"/>
              </a:ext>
            </a:extLst>
          </p:cNvPr>
          <p:cNvSpPr>
            <a:spLocks noGrp="1"/>
          </p:cNvSpPr>
          <p:nvPr>
            <p:ph idx="1"/>
          </p:nvPr>
        </p:nvSpPr>
        <p:spPr/>
        <p:txBody>
          <a:bodyPr>
            <a:normAutofit fontScale="85000" lnSpcReduction="20000"/>
          </a:bodyPr>
          <a:lstStyle/>
          <a:p>
            <a:pPr marL="0" indent="0">
              <a:buNone/>
            </a:pPr>
            <a:r>
              <a:rPr lang="en-US" sz="1800" dirty="0"/>
              <a:t>Multimedia sharing platforms must process and distribute extremely large volumes of media files while maintaining high performance and reliability.</a:t>
            </a:r>
          </a:p>
          <a:p>
            <a:pPr marL="0" indent="0">
              <a:buNone/>
            </a:pPr>
            <a:r>
              <a:rPr lang="en-US" sz="1800" dirty="0"/>
              <a:t>Modern social platforms support features such as image uploads, video streaming, tagging, comments, and personalized feeds. Each of these features generates continuous user activity and requires significant storage and computational resources.</a:t>
            </a:r>
          </a:p>
          <a:p>
            <a:pPr marL="0" indent="0">
              <a:buNone/>
            </a:pPr>
            <a:endParaRPr lang="en-IN" dirty="0"/>
          </a:p>
          <a:p>
            <a:r>
              <a:rPr lang="en-US" b="1" dirty="0"/>
              <a:t>Problem</a:t>
            </a:r>
            <a:endParaRPr lang="en-US" dirty="0"/>
          </a:p>
          <a:p>
            <a:r>
              <a:rPr lang="en-US" dirty="0"/>
              <a:t>Design a </a:t>
            </a:r>
            <a:r>
              <a:rPr lang="en-US" b="1" dirty="0"/>
              <a:t>cloud-native multimedia platform capable of storing, processing and delivering large volumes of media content while maintaining high availability and scalability.</a:t>
            </a:r>
            <a:endParaRPr lang="en-US" dirty="0"/>
          </a:p>
          <a:p>
            <a:pPr marL="0" indent="0">
              <a:buNone/>
            </a:pPr>
            <a:r>
              <a:rPr lang="en-IN" dirty="0"/>
              <a:t> </a:t>
            </a:r>
          </a:p>
        </p:txBody>
      </p:sp>
      <p:sp>
        <p:nvSpPr>
          <p:cNvPr id="4" name="Content Placeholder 3">
            <a:extLst>
              <a:ext uri="{FF2B5EF4-FFF2-40B4-BE49-F238E27FC236}">
                <a16:creationId xmlns:a16="http://schemas.microsoft.com/office/drawing/2014/main" id="{2AE468A9-6D07-CA26-B27E-2955E7835E05}"/>
              </a:ext>
            </a:extLst>
          </p:cNvPr>
          <p:cNvSpPr>
            <a:spLocks noGrp="1"/>
          </p:cNvSpPr>
          <p:nvPr>
            <p:ph idx="2"/>
          </p:nvPr>
        </p:nvSpPr>
        <p:spPr/>
        <p:txBody>
          <a:bodyPr>
            <a:normAutofit fontScale="85000" lnSpcReduction="20000"/>
          </a:bodyPr>
          <a:lstStyle/>
          <a:p>
            <a:pPr marL="0" indent="0">
              <a:buNone/>
            </a:pPr>
            <a:r>
              <a:rPr lang="en-US" dirty="0"/>
              <a:t>Traditional monolithic architectures often struggle with:</a:t>
            </a:r>
          </a:p>
          <a:p>
            <a:pPr marL="0" indent="0">
              <a:buNone/>
            </a:pPr>
            <a:r>
              <a:rPr lang="en-US" dirty="0"/>
              <a:t>• Large binary media storage</a:t>
            </a:r>
            <a:br>
              <a:rPr lang="en-US" dirty="0"/>
            </a:br>
            <a:r>
              <a:rPr lang="en-US" dirty="0"/>
              <a:t>• High traffic spikes caused by viral content</a:t>
            </a:r>
            <a:br>
              <a:rPr lang="en-US" dirty="0"/>
            </a:br>
            <a:r>
              <a:rPr lang="en-US" dirty="0"/>
              <a:t>• Real-time engagement features such as likes and comments</a:t>
            </a:r>
            <a:br>
              <a:rPr lang="en-US" dirty="0"/>
            </a:br>
            <a:r>
              <a:rPr lang="en-US" dirty="0"/>
              <a:t>• Privacy and access control for sensitive content</a:t>
            </a:r>
            <a:br>
              <a:rPr lang="en-US" dirty="0"/>
            </a:br>
            <a:r>
              <a:rPr lang="en-US" dirty="0"/>
              <a:t>• Global distribution of media to users</a:t>
            </a:r>
          </a:p>
          <a:p>
            <a:r>
              <a:rPr lang="en-US" dirty="0"/>
              <a:t>Without scalable infrastructure, systems become slow or unavailable during peak loads.</a:t>
            </a:r>
          </a:p>
          <a:p>
            <a:pPr marL="0" indent="0">
              <a:buNone/>
            </a:pPr>
            <a:endParaRPr lang="en-IN" dirty="0"/>
          </a:p>
        </p:txBody>
      </p:sp>
    </p:spTree>
    <p:extLst>
      <p:ext uri="{BB962C8B-B14F-4D97-AF65-F5344CB8AC3E}">
        <p14:creationId xmlns:p14="http://schemas.microsoft.com/office/powerpoint/2010/main" val="1538948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B8610-4D85-E52E-5B8A-38B92F09A93A}"/>
              </a:ext>
            </a:extLst>
          </p:cNvPr>
          <p:cNvSpPr>
            <a:spLocks noGrp="1"/>
          </p:cNvSpPr>
          <p:nvPr>
            <p:ph type="title"/>
          </p:nvPr>
        </p:nvSpPr>
        <p:spPr/>
        <p:txBody>
          <a:bodyPr/>
          <a:lstStyle/>
          <a:p>
            <a:r>
              <a:rPr lang="en-IN" dirty="0"/>
              <a:t>Slide 3 — Technical Challenges &amp; System Objectives</a:t>
            </a:r>
          </a:p>
        </p:txBody>
      </p:sp>
      <p:sp>
        <p:nvSpPr>
          <p:cNvPr id="3" name="Content Placeholder 2">
            <a:extLst>
              <a:ext uri="{FF2B5EF4-FFF2-40B4-BE49-F238E27FC236}">
                <a16:creationId xmlns:a16="http://schemas.microsoft.com/office/drawing/2014/main" id="{951F5C33-2239-1E7D-8B70-8B83584989E1}"/>
              </a:ext>
            </a:extLst>
          </p:cNvPr>
          <p:cNvSpPr>
            <a:spLocks noGrp="1"/>
          </p:cNvSpPr>
          <p:nvPr>
            <p:ph idx="1"/>
          </p:nvPr>
        </p:nvSpPr>
        <p:spPr/>
        <p:txBody>
          <a:bodyPr>
            <a:normAutofit fontScale="55000" lnSpcReduction="20000"/>
          </a:bodyPr>
          <a:lstStyle/>
          <a:p>
            <a:r>
              <a:rPr lang="en-US" b="1" dirty="0"/>
              <a:t>Key Technical Challenges</a:t>
            </a:r>
          </a:p>
          <a:p>
            <a:r>
              <a:rPr lang="en-US" b="1" dirty="0"/>
              <a:t>Large Media Storage</a:t>
            </a:r>
            <a:endParaRPr lang="en-US" dirty="0"/>
          </a:p>
          <a:p>
            <a:r>
              <a:rPr lang="en-US" dirty="0"/>
              <a:t>Images, videos and audio files require scalable object storage capable of handling millions of files.</a:t>
            </a:r>
          </a:p>
          <a:p>
            <a:r>
              <a:rPr lang="en-US" b="1" dirty="0"/>
              <a:t>High Concurrency</a:t>
            </a:r>
            <a:endParaRPr lang="en-US" dirty="0"/>
          </a:p>
          <a:p>
            <a:r>
              <a:rPr lang="en-US" dirty="0"/>
              <a:t>Users continuously upload, view, like and comment on content. The system must support thousands of simultaneous requests.</a:t>
            </a:r>
          </a:p>
          <a:p>
            <a:r>
              <a:rPr lang="en-US" b="1" dirty="0"/>
              <a:t>Metadata Management</a:t>
            </a:r>
            <a:endParaRPr lang="en-US" dirty="0"/>
          </a:p>
          <a:p>
            <a:r>
              <a:rPr lang="en-US" dirty="0"/>
              <a:t>Each asset contains metadata such as captions, tags, locations, engagement metrics and visibility settings.</a:t>
            </a:r>
          </a:p>
          <a:p>
            <a:r>
              <a:rPr lang="en-US" b="1" dirty="0"/>
              <a:t>Privacy Enforcement</a:t>
            </a:r>
            <a:endParaRPr lang="en-US" dirty="0"/>
          </a:p>
          <a:p>
            <a:r>
              <a:rPr lang="en-US" dirty="0"/>
              <a:t>Users must be able to control who can view their content, including private or premium media.</a:t>
            </a:r>
          </a:p>
          <a:p>
            <a:r>
              <a:rPr lang="en-US" b="1" dirty="0"/>
              <a:t>Content Moderation</a:t>
            </a:r>
            <a:endParaRPr lang="en-US" dirty="0"/>
          </a:p>
          <a:p>
            <a:r>
              <a:rPr lang="en-US" dirty="0"/>
              <a:t>Sensitive or adult content must be filtered based on user preferences and age verification.</a:t>
            </a:r>
          </a:p>
          <a:p>
            <a:endParaRPr lang="en-IN" dirty="0"/>
          </a:p>
        </p:txBody>
      </p:sp>
      <p:sp>
        <p:nvSpPr>
          <p:cNvPr id="4" name="Content Placeholder 3">
            <a:extLst>
              <a:ext uri="{FF2B5EF4-FFF2-40B4-BE49-F238E27FC236}">
                <a16:creationId xmlns:a16="http://schemas.microsoft.com/office/drawing/2014/main" id="{E56B252F-2662-9DF2-5FFB-D0455D2EFF1E}"/>
              </a:ext>
            </a:extLst>
          </p:cNvPr>
          <p:cNvSpPr>
            <a:spLocks noGrp="1"/>
          </p:cNvSpPr>
          <p:nvPr>
            <p:ph idx="2"/>
          </p:nvPr>
        </p:nvSpPr>
        <p:spPr/>
        <p:txBody>
          <a:bodyPr>
            <a:normAutofit fontScale="55000" lnSpcReduction="20000"/>
          </a:bodyPr>
          <a:lstStyle/>
          <a:p>
            <a:pPr>
              <a:buNone/>
            </a:pPr>
            <a:r>
              <a:rPr lang="en-US" b="1" dirty="0"/>
              <a:t>System Objectives</a:t>
            </a:r>
          </a:p>
          <a:p>
            <a:pPr>
              <a:buNone/>
            </a:pPr>
            <a:r>
              <a:rPr lang="en-US" b="1" dirty="0"/>
              <a:t>Functional objectives</a:t>
            </a:r>
            <a:endParaRPr lang="en-US" dirty="0"/>
          </a:p>
          <a:p>
            <a:pPr>
              <a:buNone/>
            </a:pPr>
            <a:r>
              <a:rPr lang="en-US" dirty="0"/>
              <a:t>• Upload multimedia content</a:t>
            </a:r>
            <a:br>
              <a:rPr lang="en-US" dirty="0"/>
            </a:br>
            <a:r>
              <a:rPr lang="en-US" dirty="0"/>
              <a:t>• Interact through likes and comments</a:t>
            </a:r>
            <a:br>
              <a:rPr lang="en-US" dirty="0"/>
            </a:br>
            <a:r>
              <a:rPr lang="en-US" dirty="0"/>
              <a:t>• Tag users and locations in media</a:t>
            </a:r>
            <a:br>
              <a:rPr lang="en-US" dirty="0"/>
            </a:br>
            <a:r>
              <a:rPr lang="en-US" dirty="0"/>
              <a:t>• Search and discover media content</a:t>
            </a:r>
          </a:p>
          <a:p>
            <a:pPr>
              <a:buNone/>
            </a:pPr>
            <a:r>
              <a:rPr lang="en-US" b="1" dirty="0"/>
              <a:t>Non-functional objectives</a:t>
            </a:r>
            <a:endParaRPr lang="en-US" dirty="0"/>
          </a:p>
          <a:p>
            <a:pPr>
              <a:buNone/>
            </a:pPr>
            <a:r>
              <a:rPr lang="en-US" dirty="0"/>
              <a:t>• High scalability</a:t>
            </a:r>
            <a:br>
              <a:rPr lang="en-US" dirty="0"/>
            </a:br>
            <a:r>
              <a:rPr lang="en-US" dirty="0"/>
              <a:t>• Low latency content delivery</a:t>
            </a:r>
            <a:br>
              <a:rPr lang="en-US" dirty="0"/>
            </a:br>
            <a:r>
              <a:rPr lang="en-US" dirty="0"/>
              <a:t>• Secure authentication and access control</a:t>
            </a:r>
            <a:br>
              <a:rPr lang="en-US" dirty="0"/>
            </a:br>
            <a:r>
              <a:rPr lang="en-US" dirty="0"/>
              <a:t>• Efficient storage of multimedia data</a:t>
            </a:r>
          </a:p>
          <a:p>
            <a:pPr marL="0" indent="0">
              <a:buNone/>
            </a:pPr>
            <a:endParaRPr lang="en-IN" dirty="0"/>
          </a:p>
        </p:txBody>
      </p:sp>
    </p:spTree>
    <p:extLst>
      <p:ext uri="{BB962C8B-B14F-4D97-AF65-F5344CB8AC3E}">
        <p14:creationId xmlns:p14="http://schemas.microsoft.com/office/powerpoint/2010/main" val="1656016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215F9-02BB-2412-D356-1E3C0F500D6A}"/>
              </a:ext>
            </a:extLst>
          </p:cNvPr>
          <p:cNvSpPr>
            <a:spLocks noGrp="1"/>
          </p:cNvSpPr>
          <p:nvPr>
            <p:ph type="title"/>
          </p:nvPr>
        </p:nvSpPr>
        <p:spPr/>
        <p:txBody>
          <a:bodyPr/>
          <a:lstStyle/>
          <a:p>
            <a:r>
              <a:rPr lang="en-US" dirty="0"/>
              <a:t>Slide 4 — Cloud-Native Architecture Approach</a:t>
            </a:r>
            <a:endParaRPr lang="en-IN" dirty="0"/>
          </a:p>
        </p:txBody>
      </p:sp>
      <p:sp>
        <p:nvSpPr>
          <p:cNvPr id="3" name="Content Placeholder 2">
            <a:extLst>
              <a:ext uri="{FF2B5EF4-FFF2-40B4-BE49-F238E27FC236}">
                <a16:creationId xmlns:a16="http://schemas.microsoft.com/office/drawing/2014/main" id="{FA6381F8-0CCC-988F-B5E2-6BFBD5391223}"/>
              </a:ext>
            </a:extLst>
          </p:cNvPr>
          <p:cNvSpPr>
            <a:spLocks noGrp="1"/>
          </p:cNvSpPr>
          <p:nvPr>
            <p:ph idx="1"/>
          </p:nvPr>
        </p:nvSpPr>
        <p:spPr/>
        <p:txBody>
          <a:bodyPr>
            <a:normAutofit fontScale="55000" lnSpcReduction="20000"/>
          </a:bodyPr>
          <a:lstStyle/>
          <a:p>
            <a:pPr>
              <a:buNone/>
            </a:pPr>
            <a:r>
              <a:rPr lang="en-US" dirty="0"/>
              <a:t>Cloud-native applications are designed specifically for cloud environments and leverage distributed services to achieve scalability and resilience.</a:t>
            </a:r>
          </a:p>
          <a:p>
            <a:pPr>
              <a:buNone/>
            </a:pPr>
            <a:r>
              <a:rPr lang="en-US" dirty="0"/>
              <a:t>The proposed system uses a </a:t>
            </a:r>
            <a:r>
              <a:rPr lang="en-US" b="1" dirty="0"/>
              <a:t>serverless architecture combined with an event-driven processing model</a:t>
            </a:r>
            <a:r>
              <a:rPr lang="en-US" dirty="0"/>
              <a:t>.</a:t>
            </a:r>
          </a:p>
          <a:p>
            <a:pPr>
              <a:buNone/>
            </a:pPr>
            <a:r>
              <a:rPr lang="en-US" dirty="0"/>
              <a:t>Key architectural characteristics include:</a:t>
            </a:r>
          </a:p>
          <a:p>
            <a:pPr>
              <a:buNone/>
            </a:pPr>
            <a:r>
              <a:rPr lang="en-US" b="1" dirty="0"/>
              <a:t>Stateless APIs</a:t>
            </a:r>
            <a:endParaRPr lang="en-US" dirty="0"/>
          </a:p>
          <a:p>
            <a:pPr>
              <a:buNone/>
            </a:pPr>
            <a:r>
              <a:rPr lang="en-US" dirty="0"/>
              <a:t>REST APIs process requests without storing session state on servers, allowing horizontal scaling.</a:t>
            </a:r>
          </a:p>
          <a:p>
            <a:pPr>
              <a:buNone/>
            </a:pPr>
            <a:r>
              <a:rPr lang="en-US" b="1" dirty="0"/>
              <a:t>Event-Driven Processing</a:t>
            </a:r>
            <a:endParaRPr lang="en-US" dirty="0"/>
          </a:p>
          <a:p>
            <a:pPr>
              <a:buNone/>
            </a:pPr>
            <a:r>
              <a:rPr lang="en-US" dirty="0"/>
              <a:t>Media processing tasks such as thumbnail generation and AI tagging are handled asynchronously using queues and serverless workers.</a:t>
            </a:r>
          </a:p>
          <a:p>
            <a:pPr>
              <a:buNone/>
            </a:pPr>
            <a:r>
              <a:rPr lang="en-US" b="1" dirty="0"/>
              <a:t>Managed Cloud Services</a:t>
            </a:r>
            <a:endParaRPr lang="en-US" dirty="0"/>
          </a:p>
          <a:p>
            <a:pPr>
              <a:buNone/>
            </a:pPr>
            <a:r>
              <a:rPr lang="en-US" dirty="0"/>
              <a:t>Infrastructure components such as databases and storage are provided by Azure managed services, reducing operational complexity.</a:t>
            </a:r>
          </a:p>
          <a:p>
            <a:pPr>
              <a:buNone/>
            </a:pPr>
            <a:r>
              <a:rPr lang="en-US" b="1" dirty="0"/>
              <a:t>Elastic Scaling</a:t>
            </a:r>
            <a:endParaRPr lang="en-US" dirty="0"/>
          </a:p>
          <a:p>
            <a:pPr>
              <a:buNone/>
            </a:pPr>
            <a:r>
              <a:rPr lang="en-US" dirty="0"/>
              <a:t>Serverless components automatically scale based on system load, allowing the platform to handle sudden traffic spikes.</a:t>
            </a:r>
          </a:p>
          <a:p>
            <a:pPr marL="0" indent="0">
              <a:buNone/>
            </a:pPr>
            <a:endParaRPr lang="en-IN" dirty="0"/>
          </a:p>
        </p:txBody>
      </p:sp>
    </p:spTree>
    <p:extLst>
      <p:ext uri="{BB962C8B-B14F-4D97-AF65-F5344CB8AC3E}">
        <p14:creationId xmlns:p14="http://schemas.microsoft.com/office/powerpoint/2010/main" val="3655888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EACD5-27B8-08F3-7EBA-098B53BAD515}"/>
              </a:ext>
            </a:extLst>
          </p:cNvPr>
          <p:cNvSpPr>
            <a:spLocks noGrp="1"/>
          </p:cNvSpPr>
          <p:nvPr>
            <p:ph type="title"/>
          </p:nvPr>
        </p:nvSpPr>
        <p:spPr/>
        <p:txBody>
          <a:bodyPr/>
          <a:lstStyle/>
          <a:p>
            <a:r>
              <a:rPr lang="en-IN" dirty="0"/>
              <a:t>Slide 5 — Azure System Architecture (Insert Diagram)</a:t>
            </a:r>
          </a:p>
        </p:txBody>
      </p:sp>
      <p:sp>
        <p:nvSpPr>
          <p:cNvPr id="3" name="Content Placeholder 2">
            <a:extLst>
              <a:ext uri="{FF2B5EF4-FFF2-40B4-BE49-F238E27FC236}">
                <a16:creationId xmlns:a16="http://schemas.microsoft.com/office/drawing/2014/main" id="{FF4F9AE8-6769-4607-70F0-B6186F7849E7}"/>
              </a:ext>
            </a:extLst>
          </p:cNvPr>
          <p:cNvSpPr>
            <a:spLocks noGrp="1"/>
          </p:cNvSpPr>
          <p:nvPr>
            <p:ph idx="1"/>
          </p:nvPr>
        </p:nvSpPr>
        <p:spPr/>
        <p:txBody>
          <a:bodyPr>
            <a:normAutofit fontScale="55000" lnSpcReduction="20000"/>
          </a:bodyPr>
          <a:lstStyle/>
          <a:p>
            <a:pPr>
              <a:buNone/>
            </a:pPr>
            <a:r>
              <a:rPr lang="en-IN" dirty="0"/>
              <a:t>The system architecture consists of several layers that collaborate to deliver multimedia services.</a:t>
            </a:r>
          </a:p>
          <a:p>
            <a:pPr>
              <a:buNone/>
            </a:pPr>
            <a:r>
              <a:rPr lang="en-IN" b="1" dirty="0"/>
              <a:t>Frontend Layer</a:t>
            </a:r>
            <a:endParaRPr lang="en-IN" dirty="0"/>
          </a:p>
          <a:p>
            <a:pPr>
              <a:buNone/>
            </a:pPr>
            <a:r>
              <a:rPr lang="en-IN" dirty="0"/>
              <a:t>The user interface is hosted using Azure Static Web Apps and provides interactive features such as infinite scrolling feeds, search filters and media upload forms.</a:t>
            </a:r>
          </a:p>
          <a:p>
            <a:pPr>
              <a:buNone/>
            </a:pPr>
            <a:r>
              <a:rPr lang="en-IN" b="1" dirty="0"/>
              <a:t>API Gateway Layer</a:t>
            </a:r>
            <a:endParaRPr lang="en-IN" dirty="0"/>
          </a:p>
          <a:p>
            <a:pPr>
              <a:buNone/>
            </a:pPr>
            <a:r>
              <a:rPr lang="en-IN" dirty="0"/>
              <a:t>Azure API Management acts as the gateway for all client requests. It performs authentication validation, request routing and rate limiting.</a:t>
            </a:r>
          </a:p>
          <a:p>
            <a:pPr>
              <a:buNone/>
            </a:pPr>
            <a:r>
              <a:rPr lang="en-IN" b="1" dirty="0"/>
              <a:t>Application Logic Layer</a:t>
            </a:r>
            <a:endParaRPr lang="en-IN" dirty="0"/>
          </a:p>
          <a:p>
            <a:pPr>
              <a:buNone/>
            </a:pPr>
            <a:r>
              <a:rPr lang="en-IN" dirty="0"/>
              <a:t>Azure Logic Apps implement the REST API endpoints responsible for CRUD operations on multimedia assets.</a:t>
            </a:r>
          </a:p>
          <a:p>
            <a:pPr>
              <a:buNone/>
            </a:pPr>
            <a:r>
              <a:rPr lang="en-IN" b="1" dirty="0"/>
              <a:t>Storage Layer</a:t>
            </a:r>
            <a:endParaRPr lang="en-IN" dirty="0"/>
          </a:p>
          <a:p>
            <a:pPr>
              <a:buNone/>
            </a:pPr>
            <a:r>
              <a:rPr lang="en-IN" dirty="0"/>
              <a:t>Azure Blob Storage stores multimedia files including images, videos and audio content.</a:t>
            </a:r>
          </a:p>
          <a:p>
            <a:pPr>
              <a:buNone/>
            </a:pPr>
            <a:r>
              <a:rPr lang="en-IN" b="1" dirty="0"/>
              <a:t>Database Layer</a:t>
            </a:r>
            <a:endParaRPr lang="en-IN" dirty="0"/>
          </a:p>
          <a:p>
            <a:pPr>
              <a:buNone/>
            </a:pPr>
            <a:r>
              <a:rPr lang="en-IN" dirty="0"/>
              <a:t>Azure SQL Database stores structured data such as user accounts, subscriptions and privacy permissions. Azure Cosmos DB stores flexible JSON documents containing media metadata and engagement metrics.</a:t>
            </a:r>
          </a:p>
          <a:p>
            <a:pPr>
              <a:buNone/>
            </a:pPr>
            <a:r>
              <a:rPr lang="en-IN" b="1" dirty="0"/>
              <a:t>Processing Layer</a:t>
            </a:r>
            <a:endParaRPr lang="en-IN" dirty="0"/>
          </a:p>
          <a:p>
            <a:pPr>
              <a:buNone/>
            </a:pPr>
            <a:r>
              <a:rPr lang="en-IN" dirty="0"/>
              <a:t>Azure Functions process uploaded media asynchronously and perform tasks such as thumbnail generation, transcoding and AI analysis.</a:t>
            </a:r>
          </a:p>
          <a:p>
            <a:pPr marL="0" indent="0">
              <a:buNone/>
            </a:pPr>
            <a:endParaRPr lang="en-IN" dirty="0"/>
          </a:p>
        </p:txBody>
      </p:sp>
    </p:spTree>
    <p:extLst>
      <p:ext uri="{BB962C8B-B14F-4D97-AF65-F5344CB8AC3E}">
        <p14:creationId xmlns:p14="http://schemas.microsoft.com/office/powerpoint/2010/main" val="835423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9B093-7BAC-9DAF-DEC8-5992F8E99F10}"/>
              </a:ext>
            </a:extLst>
          </p:cNvPr>
          <p:cNvSpPr>
            <a:spLocks noGrp="1"/>
          </p:cNvSpPr>
          <p:nvPr>
            <p:ph type="title"/>
          </p:nvPr>
        </p:nvSpPr>
        <p:spPr/>
        <p:txBody>
          <a:bodyPr/>
          <a:lstStyle/>
          <a:p>
            <a:r>
              <a:rPr lang="en-IN" dirty="0"/>
              <a:t>Slide 6 — Media Upload &amp; Processing Pipeline</a:t>
            </a:r>
          </a:p>
        </p:txBody>
      </p:sp>
      <p:sp>
        <p:nvSpPr>
          <p:cNvPr id="3" name="Content Placeholder 2">
            <a:extLst>
              <a:ext uri="{FF2B5EF4-FFF2-40B4-BE49-F238E27FC236}">
                <a16:creationId xmlns:a16="http://schemas.microsoft.com/office/drawing/2014/main" id="{6AF4234C-64E2-39E2-A090-2DD896FAE0DB}"/>
              </a:ext>
            </a:extLst>
          </p:cNvPr>
          <p:cNvSpPr>
            <a:spLocks noGrp="1"/>
          </p:cNvSpPr>
          <p:nvPr>
            <p:ph idx="1"/>
          </p:nvPr>
        </p:nvSpPr>
        <p:spPr/>
        <p:txBody>
          <a:bodyPr>
            <a:normAutofit fontScale="70000" lnSpcReduction="20000"/>
          </a:bodyPr>
          <a:lstStyle/>
          <a:p>
            <a:pPr>
              <a:buNone/>
            </a:pPr>
            <a:r>
              <a:rPr lang="en-US" dirty="0"/>
              <a:t>The media upload workflow follows a multi-stage pipeline designed for scalability.</a:t>
            </a:r>
          </a:p>
          <a:p>
            <a:pPr>
              <a:buFont typeface="+mj-lt"/>
              <a:buAutoNum type="arabicPeriod"/>
            </a:pPr>
            <a:r>
              <a:rPr lang="en-US" dirty="0"/>
              <a:t>The user selects a media file and submits metadata including caption, tags and privacy settings.</a:t>
            </a:r>
          </a:p>
          <a:p>
            <a:pPr>
              <a:buFont typeface="+mj-lt"/>
              <a:buAutoNum type="arabicPeriod"/>
            </a:pPr>
            <a:r>
              <a:rPr lang="en-US" dirty="0"/>
              <a:t>The client sends a </a:t>
            </a:r>
            <a:r>
              <a:rPr lang="en-US" b="1" dirty="0"/>
              <a:t>POST request to the API</a:t>
            </a:r>
            <a:r>
              <a:rPr lang="en-US" dirty="0"/>
              <a:t> to create an asset record.</a:t>
            </a:r>
          </a:p>
          <a:p>
            <a:pPr>
              <a:buFont typeface="+mj-lt"/>
              <a:buAutoNum type="arabicPeriod"/>
            </a:pPr>
            <a:r>
              <a:rPr lang="en-US" dirty="0"/>
              <a:t>The API generates a </a:t>
            </a:r>
            <a:r>
              <a:rPr lang="en-US" b="1" dirty="0"/>
              <a:t>temporary upload URL (SAS token)</a:t>
            </a:r>
            <a:r>
              <a:rPr lang="en-US" dirty="0"/>
              <a:t> allowing the client to upload the file directly to Azure Blob Storage.</a:t>
            </a:r>
          </a:p>
          <a:p>
            <a:pPr>
              <a:buFont typeface="+mj-lt"/>
              <a:buAutoNum type="arabicPeriod"/>
            </a:pPr>
            <a:r>
              <a:rPr lang="en-US" dirty="0"/>
              <a:t>Once the upload completes, a message is placed in a queue indicating that media processing tasks should begin.</a:t>
            </a:r>
          </a:p>
          <a:p>
            <a:pPr>
              <a:buFont typeface="+mj-lt"/>
              <a:buAutoNum type="arabicPeriod"/>
            </a:pPr>
            <a:r>
              <a:rPr lang="en-US" dirty="0"/>
              <a:t>Azure Functions consume the queue message and perform processing tasks such as:</a:t>
            </a:r>
          </a:p>
          <a:p>
            <a:pPr>
              <a:buNone/>
            </a:pPr>
            <a:r>
              <a:rPr lang="en-US" dirty="0"/>
              <a:t>• generating thumbnails</a:t>
            </a:r>
            <a:br>
              <a:rPr lang="en-US" dirty="0"/>
            </a:br>
            <a:r>
              <a:rPr lang="en-US" dirty="0"/>
              <a:t>• extracting audio waveforms</a:t>
            </a:r>
            <a:br>
              <a:rPr lang="en-US" dirty="0"/>
            </a:br>
            <a:r>
              <a:rPr lang="en-US" dirty="0"/>
              <a:t>• transcoding video formats</a:t>
            </a:r>
            <a:br>
              <a:rPr lang="en-US" dirty="0"/>
            </a:br>
            <a:r>
              <a:rPr lang="en-US" dirty="0"/>
              <a:t>• applying AI content analysis</a:t>
            </a:r>
          </a:p>
          <a:p>
            <a:pPr>
              <a:buFont typeface="+mj-lt"/>
              <a:buAutoNum type="arabicPeriod" startAt="6"/>
            </a:pPr>
            <a:r>
              <a:rPr lang="en-US" dirty="0"/>
              <a:t>Metadata is updated in Cosmos DB and the media becomes visible in the platform feed.</a:t>
            </a:r>
          </a:p>
          <a:p>
            <a:pPr>
              <a:buNone/>
            </a:pPr>
            <a:r>
              <a:rPr lang="en-US" dirty="0"/>
              <a:t>This asynchronous pipeline prevents heavy processing tasks from blocking user requests.</a:t>
            </a:r>
          </a:p>
          <a:p>
            <a:pPr marL="0" indent="0">
              <a:buNone/>
            </a:pPr>
            <a:endParaRPr lang="en-IN" dirty="0"/>
          </a:p>
        </p:txBody>
      </p:sp>
    </p:spTree>
    <p:extLst>
      <p:ext uri="{BB962C8B-B14F-4D97-AF65-F5344CB8AC3E}">
        <p14:creationId xmlns:p14="http://schemas.microsoft.com/office/powerpoint/2010/main" val="2017210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A1DE8-2A10-DE10-F6E3-DF58ABF295BA}"/>
              </a:ext>
            </a:extLst>
          </p:cNvPr>
          <p:cNvSpPr>
            <a:spLocks noGrp="1"/>
          </p:cNvSpPr>
          <p:nvPr>
            <p:ph type="title"/>
          </p:nvPr>
        </p:nvSpPr>
        <p:spPr/>
        <p:txBody>
          <a:bodyPr/>
          <a:lstStyle/>
          <a:p>
            <a:r>
              <a:rPr lang="en-US" dirty="0"/>
              <a:t>Slide 7 — Platform Features &amp; Privacy Controls</a:t>
            </a:r>
            <a:endParaRPr lang="en-IN" dirty="0"/>
          </a:p>
        </p:txBody>
      </p:sp>
      <p:sp>
        <p:nvSpPr>
          <p:cNvPr id="3" name="Content Placeholder 2">
            <a:extLst>
              <a:ext uri="{FF2B5EF4-FFF2-40B4-BE49-F238E27FC236}">
                <a16:creationId xmlns:a16="http://schemas.microsoft.com/office/drawing/2014/main" id="{505F166A-E123-643B-10F2-CEC5EE0817A0}"/>
              </a:ext>
            </a:extLst>
          </p:cNvPr>
          <p:cNvSpPr>
            <a:spLocks noGrp="1"/>
          </p:cNvSpPr>
          <p:nvPr>
            <p:ph idx="1"/>
          </p:nvPr>
        </p:nvSpPr>
        <p:spPr/>
        <p:txBody>
          <a:bodyPr>
            <a:normAutofit fontScale="62500" lnSpcReduction="20000"/>
          </a:bodyPr>
          <a:lstStyle/>
          <a:p>
            <a:pPr>
              <a:buNone/>
            </a:pPr>
            <a:r>
              <a:rPr lang="en-US" dirty="0" err="1"/>
              <a:t>HyMedia</a:t>
            </a:r>
            <a:r>
              <a:rPr lang="en-US" dirty="0"/>
              <a:t> provides several social media features designed to increase user engagement.</a:t>
            </a:r>
          </a:p>
          <a:p>
            <a:pPr>
              <a:buNone/>
            </a:pPr>
            <a:r>
              <a:rPr lang="en-US" b="1" dirty="0"/>
              <a:t>User Interaction</a:t>
            </a:r>
            <a:endParaRPr lang="en-US" dirty="0"/>
          </a:p>
          <a:p>
            <a:pPr>
              <a:buNone/>
            </a:pPr>
            <a:r>
              <a:rPr lang="en-US" dirty="0"/>
              <a:t>Users can like and comment on multimedia posts created by other users.</a:t>
            </a:r>
          </a:p>
          <a:p>
            <a:pPr>
              <a:buNone/>
            </a:pPr>
            <a:r>
              <a:rPr lang="en-US" b="1" dirty="0"/>
              <a:t>User Tagging</a:t>
            </a:r>
            <a:endParaRPr lang="en-US" dirty="0"/>
          </a:p>
          <a:p>
            <a:pPr>
              <a:buNone/>
            </a:pPr>
            <a:r>
              <a:rPr lang="en-US" dirty="0"/>
              <a:t>During upload, users can tag other users in their content using username mentions.</a:t>
            </a:r>
          </a:p>
          <a:p>
            <a:pPr>
              <a:buNone/>
            </a:pPr>
            <a:r>
              <a:rPr lang="en-US" b="1" dirty="0"/>
              <a:t>Location Tagging</a:t>
            </a:r>
            <a:endParaRPr lang="en-US" dirty="0"/>
          </a:p>
          <a:p>
            <a:pPr>
              <a:buNone/>
            </a:pPr>
            <a:r>
              <a:rPr lang="en-US" dirty="0"/>
              <a:t>Posts can include geographic location information enabling location-based discovery.</a:t>
            </a:r>
          </a:p>
          <a:p>
            <a:pPr>
              <a:buNone/>
            </a:pPr>
            <a:r>
              <a:rPr lang="en-US" b="1" dirty="0"/>
              <a:t>Infinite Scroll Feed</a:t>
            </a:r>
            <a:endParaRPr lang="en-US" dirty="0"/>
          </a:p>
          <a:p>
            <a:pPr>
              <a:buNone/>
            </a:pPr>
            <a:r>
              <a:rPr lang="en-US" dirty="0"/>
              <a:t>Content feeds load progressively using cursor-based pagination to provide a seamless browsing experience.</a:t>
            </a:r>
          </a:p>
        </p:txBody>
      </p:sp>
      <p:sp>
        <p:nvSpPr>
          <p:cNvPr id="4" name="Content Placeholder 3">
            <a:extLst>
              <a:ext uri="{FF2B5EF4-FFF2-40B4-BE49-F238E27FC236}">
                <a16:creationId xmlns:a16="http://schemas.microsoft.com/office/drawing/2014/main" id="{213585E0-94D5-BE27-95A1-D9510E035B95}"/>
              </a:ext>
            </a:extLst>
          </p:cNvPr>
          <p:cNvSpPr>
            <a:spLocks noGrp="1"/>
          </p:cNvSpPr>
          <p:nvPr>
            <p:ph idx="2"/>
          </p:nvPr>
        </p:nvSpPr>
        <p:spPr/>
        <p:txBody>
          <a:bodyPr>
            <a:normAutofit fontScale="62500" lnSpcReduction="20000"/>
          </a:bodyPr>
          <a:lstStyle/>
          <a:p>
            <a:pPr>
              <a:buNone/>
            </a:pPr>
            <a:r>
              <a:rPr lang="en-US" b="1" dirty="0"/>
              <a:t>Privacy Model</a:t>
            </a:r>
          </a:p>
          <a:p>
            <a:pPr>
              <a:buNone/>
            </a:pPr>
            <a:r>
              <a:rPr lang="en-US" dirty="0"/>
              <a:t>The platform supports multiple visibility levels:</a:t>
            </a:r>
          </a:p>
          <a:p>
            <a:pPr>
              <a:buNone/>
            </a:pPr>
            <a:r>
              <a:rPr lang="en-US" b="1" dirty="0"/>
              <a:t>Public</a:t>
            </a:r>
            <a:endParaRPr lang="en-US" dirty="0"/>
          </a:p>
          <a:p>
            <a:pPr>
              <a:buNone/>
            </a:pPr>
            <a:r>
              <a:rPr lang="en-US" dirty="0"/>
              <a:t>Visible to all users.</a:t>
            </a:r>
          </a:p>
          <a:p>
            <a:pPr>
              <a:buNone/>
            </a:pPr>
            <a:r>
              <a:rPr lang="en-US" b="1" dirty="0"/>
              <a:t>Private to Selected Users</a:t>
            </a:r>
            <a:endParaRPr lang="en-US" dirty="0"/>
          </a:p>
          <a:p>
            <a:pPr>
              <a:buNone/>
            </a:pPr>
            <a:r>
              <a:rPr lang="en-US" dirty="0"/>
              <a:t>Accessible only to specific users chosen by the content owner.</a:t>
            </a:r>
          </a:p>
          <a:p>
            <a:pPr>
              <a:buNone/>
            </a:pPr>
            <a:r>
              <a:rPr lang="en-US" b="1" dirty="0"/>
              <a:t>Unlisted</a:t>
            </a:r>
            <a:endParaRPr lang="en-US" dirty="0"/>
          </a:p>
          <a:p>
            <a:pPr>
              <a:buNone/>
            </a:pPr>
            <a:r>
              <a:rPr lang="en-US" dirty="0"/>
              <a:t>Hidden from search results but accessible via a shared link.</a:t>
            </a:r>
          </a:p>
          <a:p>
            <a:pPr>
              <a:buNone/>
            </a:pPr>
            <a:r>
              <a:rPr lang="en-US" b="1" dirty="0"/>
              <a:t>Premium Content</a:t>
            </a:r>
            <a:endParaRPr lang="en-US" dirty="0"/>
          </a:p>
          <a:p>
            <a:pPr>
              <a:buNone/>
            </a:pPr>
            <a:r>
              <a:rPr lang="en-US" dirty="0"/>
              <a:t>Accessible only to subscribers of the creator’s premium account.</a:t>
            </a:r>
          </a:p>
          <a:p>
            <a:pPr marL="0" indent="0">
              <a:buNone/>
            </a:pPr>
            <a:endParaRPr lang="en-IN" dirty="0"/>
          </a:p>
        </p:txBody>
      </p:sp>
    </p:spTree>
    <p:extLst>
      <p:ext uri="{BB962C8B-B14F-4D97-AF65-F5344CB8AC3E}">
        <p14:creationId xmlns:p14="http://schemas.microsoft.com/office/powerpoint/2010/main" val="3573024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41759-1A3E-10F6-9EBC-4E8CCD0FFE0A}"/>
              </a:ext>
            </a:extLst>
          </p:cNvPr>
          <p:cNvSpPr>
            <a:spLocks noGrp="1"/>
          </p:cNvSpPr>
          <p:nvPr>
            <p:ph type="title"/>
          </p:nvPr>
        </p:nvSpPr>
        <p:spPr/>
        <p:txBody>
          <a:bodyPr/>
          <a:lstStyle/>
          <a:p>
            <a:r>
              <a:rPr lang="en-US" dirty="0"/>
              <a:t>Slide 8 — UI Wireframes (Feed &amp; Upload)</a:t>
            </a:r>
            <a:endParaRPr lang="en-IN" dirty="0"/>
          </a:p>
        </p:txBody>
      </p:sp>
      <p:sp>
        <p:nvSpPr>
          <p:cNvPr id="3" name="Content Placeholder 2">
            <a:extLst>
              <a:ext uri="{FF2B5EF4-FFF2-40B4-BE49-F238E27FC236}">
                <a16:creationId xmlns:a16="http://schemas.microsoft.com/office/drawing/2014/main" id="{945D26A6-CF8B-06D4-D879-93D9C13D2A1E}"/>
              </a:ext>
            </a:extLst>
          </p:cNvPr>
          <p:cNvSpPr>
            <a:spLocks noGrp="1"/>
          </p:cNvSpPr>
          <p:nvPr>
            <p:ph idx="1"/>
          </p:nvPr>
        </p:nvSpPr>
        <p:spPr/>
        <p:txBody>
          <a:bodyPr>
            <a:normAutofit fontScale="70000" lnSpcReduction="20000"/>
          </a:bodyPr>
          <a:lstStyle/>
          <a:p>
            <a:pPr>
              <a:buNone/>
            </a:pPr>
            <a:r>
              <a:rPr lang="en-US" dirty="0"/>
              <a:t>he user interface is designed to support efficient media discovery and content creation.</a:t>
            </a:r>
          </a:p>
          <a:p>
            <a:pPr>
              <a:buNone/>
            </a:pPr>
            <a:r>
              <a:rPr lang="en-US" b="1" dirty="0"/>
              <a:t>Feed Interface</a:t>
            </a:r>
            <a:endParaRPr lang="en-US" dirty="0"/>
          </a:p>
          <a:p>
            <a:pPr>
              <a:buNone/>
            </a:pPr>
            <a:r>
              <a:rPr lang="en-US" dirty="0"/>
              <a:t>The main feed displays multimedia posts using a card layout. Each card shows a preview image or video, caption text and engagement controls such as likes and comments.</a:t>
            </a:r>
          </a:p>
          <a:p>
            <a:pPr>
              <a:buNone/>
            </a:pPr>
            <a:r>
              <a:rPr lang="en-US" dirty="0"/>
              <a:t>Search filters allow users to refine results based on media type, hashtags or location.</a:t>
            </a:r>
          </a:p>
          <a:p>
            <a:pPr>
              <a:buNone/>
            </a:pPr>
            <a:r>
              <a:rPr lang="en-US" b="1" dirty="0"/>
              <a:t>Upload Interface</a:t>
            </a:r>
            <a:endParaRPr lang="en-US" dirty="0"/>
          </a:p>
          <a:p>
            <a:pPr>
              <a:buNone/>
            </a:pPr>
            <a:r>
              <a:rPr lang="en-US" dirty="0"/>
              <a:t>The upload page allows users to submit multimedia files with additional metadata.</a:t>
            </a:r>
          </a:p>
          <a:p>
            <a:pPr>
              <a:buNone/>
            </a:pPr>
            <a:r>
              <a:rPr lang="en-US" dirty="0"/>
              <a:t>Fields include:</a:t>
            </a:r>
          </a:p>
          <a:p>
            <a:pPr>
              <a:buNone/>
            </a:pPr>
            <a:r>
              <a:rPr lang="en-US" dirty="0"/>
              <a:t>	• caption</a:t>
            </a:r>
            <a:br>
              <a:rPr lang="en-US" dirty="0"/>
            </a:br>
            <a:r>
              <a:rPr lang="en-US" dirty="0"/>
              <a:t>• hashtags</a:t>
            </a:r>
            <a:br>
              <a:rPr lang="en-US" dirty="0"/>
            </a:br>
            <a:r>
              <a:rPr lang="en-US" dirty="0"/>
              <a:t>• tagged users</a:t>
            </a:r>
            <a:br>
              <a:rPr lang="en-US" dirty="0"/>
            </a:br>
            <a:r>
              <a:rPr lang="en-US" dirty="0"/>
              <a:t>• location tag</a:t>
            </a:r>
            <a:br>
              <a:rPr lang="en-US" dirty="0"/>
            </a:br>
            <a:r>
              <a:rPr lang="en-US" dirty="0"/>
              <a:t>• privacy settings</a:t>
            </a:r>
            <a:br>
              <a:rPr lang="en-US" dirty="0"/>
            </a:br>
            <a:r>
              <a:rPr lang="en-US" dirty="0"/>
              <a:t>• sensitive content toggle</a:t>
            </a:r>
          </a:p>
          <a:p>
            <a:pPr>
              <a:buNone/>
            </a:pPr>
            <a:r>
              <a:rPr lang="en-US" dirty="0"/>
              <a:t>The interface provides validation to ensure correct file types and sizes before upload.</a:t>
            </a:r>
          </a:p>
          <a:p>
            <a:endParaRPr lang="en-IN" dirty="0"/>
          </a:p>
        </p:txBody>
      </p:sp>
    </p:spTree>
    <p:extLst>
      <p:ext uri="{BB962C8B-B14F-4D97-AF65-F5344CB8AC3E}">
        <p14:creationId xmlns:p14="http://schemas.microsoft.com/office/powerpoint/2010/main" val="1311422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EF036-F82D-94C9-7F79-AA36532D4436}"/>
              </a:ext>
            </a:extLst>
          </p:cNvPr>
          <p:cNvSpPr>
            <a:spLocks noGrp="1"/>
          </p:cNvSpPr>
          <p:nvPr>
            <p:ph type="title"/>
          </p:nvPr>
        </p:nvSpPr>
        <p:spPr/>
        <p:txBody>
          <a:bodyPr/>
          <a:lstStyle/>
          <a:p>
            <a:r>
              <a:rPr lang="en-IN" dirty="0"/>
              <a:t>Slide 9 — Database Architecture (Insert ER Diagram)</a:t>
            </a:r>
          </a:p>
        </p:txBody>
      </p:sp>
      <p:sp>
        <p:nvSpPr>
          <p:cNvPr id="3" name="Content Placeholder 2">
            <a:extLst>
              <a:ext uri="{FF2B5EF4-FFF2-40B4-BE49-F238E27FC236}">
                <a16:creationId xmlns:a16="http://schemas.microsoft.com/office/drawing/2014/main" id="{41814EC2-1AB7-51BC-BDAB-369AAA0E47CB}"/>
              </a:ext>
            </a:extLst>
          </p:cNvPr>
          <p:cNvSpPr>
            <a:spLocks noGrp="1"/>
          </p:cNvSpPr>
          <p:nvPr>
            <p:ph idx="1"/>
          </p:nvPr>
        </p:nvSpPr>
        <p:spPr>
          <a:xfrm>
            <a:off x="838203" y="1825627"/>
            <a:ext cx="6220965" cy="4351336"/>
          </a:xfrm>
        </p:spPr>
        <p:txBody>
          <a:bodyPr>
            <a:normAutofit fontScale="40000" lnSpcReduction="20000"/>
          </a:bodyPr>
          <a:lstStyle/>
          <a:p>
            <a:pPr>
              <a:buNone/>
            </a:pPr>
            <a:r>
              <a:rPr lang="en-IN" dirty="0"/>
              <a:t>The system uses a hybrid database approach combining relational and NoSQL databases.</a:t>
            </a:r>
          </a:p>
          <a:p>
            <a:pPr>
              <a:buNone/>
            </a:pPr>
            <a:r>
              <a:rPr lang="en-IN" b="1" dirty="0"/>
              <a:t>Azure SQL Database</a:t>
            </a:r>
            <a:endParaRPr lang="en-IN" dirty="0"/>
          </a:p>
          <a:p>
            <a:pPr>
              <a:buNone/>
            </a:pPr>
            <a:r>
              <a:rPr lang="en-IN" dirty="0"/>
              <a:t>The relational database stores structured information requiring strong consistency.</a:t>
            </a:r>
          </a:p>
          <a:p>
            <a:pPr>
              <a:buNone/>
            </a:pPr>
            <a:r>
              <a:rPr lang="en-IN" dirty="0"/>
              <a:t>Examples include:</a:t>
            </a:r>
          </a:p>
          <a:p>
            <a:pPr>
              <a:buNone/>
            </a:pPr>
            <a:r>
              <a:rPr lang="en-IN" dirty="0"/>
              <a:t>	• user accounts</a:t>
            </a:r>
            <a:br>
              <a:rPr lang="en-IN" dirty="0"/>
            </a:br>
            <a:r>
              <a:rPr lang="en-IN" dirty="0"/>
              <a:t>• authentication sessions</a:t>
            </a:r>
            <a:br>
              <a:rPr lang="en-IN" dirty="0"/>
            </a:br>
            <a:r>
              <a:rPr lang="en-IN" dirty="0"/>
              <a:t>• subscription records</a:t>
            </a:r>
            <a:br>
              <a:rPr lang="en-IN" dirty="0"/>
            </a:br>
            <a:r>
              <a:rPr lang="en-IN" dirty="0"/>
              <a:t>• payment history</a:t>
            </a:r>
            <a:br>
              <a:rPr lang="en-IN" dirty="0"/>
            </a:br>
            <a:r>
              <a:rPr lang="en-IN" dirty="0"/>
              <a:t>• access control lists</a:t>
            </a:r>
            <a:br>
              <a:rPr lang="en-IN" dirty="0"/>
            </a:br>
            <a:endParaRPr lang="en-IN" dirty="0"/>
          </a:p>
          <a:p>
            <a:pPr>
              <a:buNone/>
            </a:pPr>
            <a:r>
              <a:rPr lang="en-IN" b="1" dirty="0"/>
              <a:t>Azure Cosmos DB</a:t>
            </a:r>
            <a:endParaRPr lang="en-IN" dirty="0"/>
          </a:p>
          <a:p>
            <a:pPr>
              <a:buNone/>
            </a:pPr>
            <a:r>
              <a:rPr lang="en-IN" dirty="0"/>
              <a:t>Cosmos DB stores flexible JSON documents representing multimedia assets.</a:t>
            </a:r>
          </a:p>
          <a:p>
            <a:pPr>
              <a:buNone/>
            </a:pPr>
            <a:r>
              <a:rPr lang="en-IN" dirty="0"/>
              <a:t>Example document structure:</a:t>
            </a:r>
          </a:p>
          <a:p>
            <a:pPr>
              <a:buNone/>
            </a:pPr>
            <a:r>
              <a:rPr lang="en-IN" dirty="0"/>
              <a:t>	</a:t>
            </a:r>
            <a:r>
              <a:rPr lang="en-IN" dirty="0" err="1"/>
              <a:t>AssetID</a:t>
            </a:r>
            <a:br>
              <a:rPr lang="en-IN" dirty="0"/>
            </a:br>
            <a:r>
              <a:rPr lang="en-IN" dirty="0" err="1"/>
              <a:t>OwnerID</a:t>
            </a:r>
            <a:br>
              <a:rPr lang="en-IN" dirty="0"/>
            </a:br>
            <a:r>
              <a:rPr lang="en-IN" dirty="0"/>
              <a:t>Caption</a:t>
            </a:r>
            <a:br>
              <a:rPr lang="en-IN" dirty="0"/>
            </a:br>
            <a:r>
              <a:rPr lang="en-IN" dirty="0"/>
              <a:t>Tags</a:t>
            </a:r>
            <a:br>
              <a:rPr lang="en-IN" dirty="0"/>
            </a:br>
            <a:r>
              <a:rPr lang="en-IN" dirty="0"/>
              <a:t>Location</a:t>
            </a:r>
            <a:br>
              <a:rPr lang="en-IN" dirty="0"/>
            </a:br>
            <a:r>
              <a:rPr lang="en-IN" dirty="0" err="1"/>
              <a:t>MediaURL</a:t>
            </a:r>
            <a:br>
              <a:rPr lang="en-IN" dirty="0"/>
            </a:br>
            <a:r>
              <a:rPr lang="en-IN" dirty="0" err="1"/>
              <a:t>LikeCount</a:t>
            </a:r>
            <a:br>
              <a:rPr lang="en-IN" dirty="0"/>
            </a:br>
            <a:r>
              <a:rPr lang="en-IN" dirty="0" err="1"/>
              <a:t>CommentCount</a:t>
            </a:r>
            <a:endParaRPr lang="en-IN" dirty="0"/>
          </a:p>
          <a:p>
            <a:pPr>
              <a:buNone/>
            </a:pPr>
            <a:r>
              <a:rPr lang="en-IN" dirty="0"/>
              <a:t>This approach allows fast retrieval of feed data and flexible schema evolution.</a:t>
            </a:r>
          </a:p>
          <a:p>
            <a:pPr marL="0" indent="0">
              <a:buNone/>
            </a:pPr>
            <a:endParaRPr lang="en-IN" dirty="0"/>
          </a:p>
        </p:txBody>
      </p:sp>
      <p:sp>
        <p:nvSpPr>
          <p:cNvPr id="4" name="Content Placeholder 3">
            <a:extLst>
              <a:ext uri="{FF2B5EF4-FFF2-40B4-BE49-F238E27FC236}">
                <a16:creationId xmlns:a16="http://schemas.microsoft.com/office/drawing/2014/main" id="{4F9D3826-2D8C-8F1A-944C-7B58EEABA209}"/>
              </a:ext>
            </a:extLst>
          </p:cNvPr>
          <p:cNvSpPr>
            <a:spLocks noGrp="1"/>
          </p:cNvSpPr>
          <p:nvPr>
            <p:ph idx="2"/>
          </p:nvPr>
        </p:nvSpPr>
        <p:spPr>
          <a:xfrm>
            <a:off x="8101584" y="1825627"/>
            <a:ext cx="3252219" cy="4351336"/>
          </a:xfrm>
        </p:spPr>
        <p:txBody>
          <a:bodyPr>
            <a:normAutofit fontScale="40000" lnSpcReduction="20000"/>
          </a:bodyPr>
          <a:lstStyle/>
          <a:p>
            <a:endParaRPr lang="en-IN" dirty="0"/>
          </a:p>
        </p:txBody>
      </p:sp>
    </p:spTree>
    <p:extLst>
      <p:ext uri="{BB962C8B-B14F-4D97-AF65-F5344CB8AC3E}">
        <p14:creationId xmlns:p14="http://schemas.microsoft.com/office/powerpoint/2010/main" val="324311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89A18-2D76-D7CC-617B-59D7B2B99224}"/>
              </a:ext>
            </a:extLst>
          </p:cNvPr>
          <p:cNvSpPr>
            <a:spLocks noGrp="1"/>
          </p:cNvSpPr>
          <p:nvPr>
            <p:ph type="title"/>
          </p:nvPr>
        </p:nvSpPr>
        <p:spPr/>
        <p:txBody>
          <a:bodyPr/>
          <a:lstStyle/>
          <a:p>
            <a:r>
              <a:rPr lang="en-US" dirty="0"/>
              <a:t>Slide 10 — REST API Design</a:t>
            </a:r>
            <a:endParaRPr lang="en-IN" dirty="0"/>
          </a:p>
        </p:txBody>
      </p:sp>
      <p:sp>
        <p:nvSpPr>
          <p:cNvPr id="3" name="Content Placeholder 2">
            <a:extLst>
              <a:ext uri="{FF2B5EF4-FFF2-40B4-BE49-F238E27FC236}">
                <a16:creationId xmlns:a16="http://schemas.microsoft.com/office/drawing/2014/main" id="{54D21C93-D6C2-6798-2BCA-98B530D9391E}"/>
              </a:ext>
            </a:extLst>
          </p:cNvPr>
          <p:cNvSpPr>
            <a:spLocks noGrp="1"/>
          </p:cNvSpPr>
          <p:nvPr>
            <p:ph idx="1"/>
          </p:nvPr>
        </p:nvSpPr>
        <p:spPr/>
        <p:txBody>
          <a:bodyPr>
            <a:normAutofit fontScale="55000" lnSpcReduction="20000"/>
          </a:bodyPr>
          <a:lstStyle/>
          <a:p>
            <a:pPr>
              <a:buNone/>
            </a:pPr>
            <a:r>
              <a:rPr lang="en-IN" dirty="0"/>
              <a:t>The platform exposes a RESTful API enabling clients to interact with system resources using HTTP methods.</a:t>
            </a:r>
          </a:p>
          <a:p>
            <a:pPr>
              <a:buNone/>
            </a:pPr>
            <a:r>
              <a:rPr lang="en-IN" b="1" dirty="0"/>
              <a:t>Authentication Endpoints</a:t>
            </a:r>
          </a:p>
          <a:p>
            <a:pPr>
              <a:buNone/>
            </a:pPr>
            <a:r>
              <a:rPr lang="en-IN" dirty="0"/>
              <a:t>POST /</a:t>
            </a:r>
            <a:r>
              <a:rPr lang="en-IN" dirty="0" err="1"/>
              <a:t>api</a:t>
            </a:r>
            <a:r>
              <a:rPr lang="en-IN" dirty="0"/>
              <a:t>/v1/auth/signup</a:t>
            </a:r>
            <a:br>
              <a:rPr lang="en-IN" dirty="0"/>
            </a:br>
            <a:r>
              <a:rPr lang="en-IN" dirty="0"/>
              <a:t>POST /</a:t>
            </a:r>
            <a:r>
              <a:rPr lang="en-IN" dirty="0" err="1"/>
              <a:t>api</a:t>
            </a:r>
            <a:r>
              <a:rPr lang="en-IN" dirty="0"/>
              <a:t>/v1/auth/login</a:t>
            </a:r>
            <a:br>
              <a:rPr lang="en-IN" dirty="0"/>
            </a:br>
            <a:r>
              <a:rPr lang="en-IN" dirty="0"/>
              <a:t>POST /</a:t>
            </a:r>
            <a:r>
              <a:rPr lang="en-IN" dirty="0" err="1"/>
              <a:t>api</a:t>
            </a:r>
            <a:r>
              <a:rPr lang="en-IN" dirty="0"/>
              <a:t>/v1/auth/logout</a:t>
            </a:r>
          </a:p>
          <a:p>
            <a:pPr>
              <a:buNone/>
            </a:pPr>
            <a:r>
              <a:rPr lang="en-IN" b="1" dirty="0"/>
              <a:t>Media Asset Endpoints</a:t>
            </a:r>
          </a:p>
          <a:p>
            <a:pPr>
              <a:buNone/>
            </a:pPr>
            <a:r>
              <a:rPr lang="en-IN" dirty="0"/>
              <a:t>POST /</a:t>
            </a:r>
            <a:r>
              <a:rPr lang="en-IN" dirty="0" err="1"/>
              <a:t>api</a:t>
            </a:r>
            <a:r>
              <a:rPr lang="en-IN" dirty="0"/>
              <a:t>/v1/assets</a:t>
            </a:r>
            <a:br>
              <a:rPr lang="en-IN" dirty="0"/>
            </a:br>
            <a:r>
              <a:rPr lang="en-IN" dirty="0"/>
              <a:t>GET /</a:t>
            </a:r>
            <a:r>
              <a:rPr lang="en-IN" dirty="0" err="1"/>
              <a:t>api</a:t>
            </a:r>
            <a:r>
              <a:rPr lang="en-IN" dirty="0"/>
              <a:t>/v1/assets</a:t>
            </a:r>
            <a:br>
              <a:rPr lang="en-IN" dirty="0"/>
            </a:br>
            <a:r>
              <a:rPr lang="en-IN" dirty="0"/>
              <a:t>GET /</a:t>
            </a:r>
            <a:r>
              <a:rPr lang="en-IN" dirty="0" err="1"/>
              <a:t>api</a:t>
            </a:r>
            <a:r>
              <a:rPr lang="en-IN" dirty="0"/>
              <a:t>/v1/assets/{id}</a:t>
            </a:r>
            <a:br>
              <a:rPr lang="en-IN" dirty="0"/>
            </a:br>
            <a:r>
              <a:rPr lang="en-IN" dirty="0"/>
              <a:t>PATCH /</a:t>
            </a:r>
            <a:r>
              <a:rPr lang="en-IN" dirty="0" err="1"/>
              <a:t>api</a:t>
            </a:r>
            <a:r>
              <a:rPr lang="en-IN" dirty="0"/>
              <a:t>/v1/assets/{id}</a:t>
            </a:r>
            <a:br>
              <a:rPr lang="en-IN" dirty="0"/>
            </a:br>
            <a:r>
              <a:rPr lang="en-IN" dirty="0"/>
              <a:t>DELETE /</a:t>
            </a:r>
            <a:r>
              <a:rPr lang="en-IN" dirty="0" err="1"/>
              <a:t>api</a:t>
            </a:r>
            <a:r>
              <a:rPr lang="en-IN" dirty="0"/>
              <a:t>/v1/assets/{id}</a:t>
            </a:r>
          </a:p>
          <a:p>
            <a:pPr>
              <a:buNone/>
            </a:pPr>
            <a:r>
              <a:rPr lang="en-IN" b="1" dirty="0"/>
              <a:t>Social Interaction Endpoints</a:t>
            </a:r>
          </a:p>
          <a:p>
            <a:pPr>
              <a:buNone/>
            </a:pPr>
            <a:r>
              <a:rPr lang="en-IN" dirty="0"/>
              <a:t>POST /</a:t>
            </a:r>
            <a:r>
              <a:rPr lang="en-IN" dirty="0" err="1"/>
              <a:t>api</a:t>
            </a:r>
            <a:r>
              <a:rPr lang="en-IN" dirty="0"/>
              <a:t>/v1/assets/{id}/likes</a:t>
            </a:r>
            <a:br>
              <a:rPr lang="en-IN" dirty="0"/>
            </a:br>
            <a:r>
              <a:rPr lang="en-IN" dirty="0"/>
              <a:t>DELETE /</a:t>
            </a:r>
            <a:r>
              <a:rPr lang="en-IN" dirty="0" err="1"/>
              <a:t>api</a:t>
            </a:r>
            <a:r>
              <a:rPr lang="en-IN" dirty="0"/>
              <a:t>/v1/assets/{id}/likes</a:t>
            </a:r>
            <a:br>
              <a:rPr lang="en-IN" dirty="0"/>
            </a:br>
            <a:r>
              <a:rPr lang="en-IN" dirty="0"/>
              <a:t>POST /</a:t>
            </a:r>
            <a:r>
              <a:rPr lang="en-IN" dirty="0" err="1"/>
              <a:t>api</a:t>
            </a:r>
            <a:r>
              <a:rPr lang="en-IN" dirty="0"/>
              <a:t>/v1/assets/{id}/comments</a:t>
            </a:r>
          </a:p>
          <a:p>
            <a:pPr>
              <a:buNone/>
            </a:pPr>
            <a:r>
              <a:rPr lang="en-IN" b="1" dirty="0"/>
              <a:t>Search Endpoints</a:t>
            </a:r>
          </a:p>
          <a:p>
            <a:pPr>
              <a:buNone/>
            </a:pPr>
            <a:r>
              <a:rPr lang="en-IN" dirty="0"/>
              <a:t>GET /</a:t>
            </a:r>
            <a:r>
              <a:rPr lang="en-IN" dirty="0" err="1"/>
              <a:t>api</a:t>
            </a:r>
            <a:r>
              <a:rPr lang="en-IN" dirty="0"/>
              <a:t>/v1/search</a:t>
            </a:r>
            <a:br>
              <a:rPr lang="en-IN" dirty="0"/>
            </a:br>
            <a:r>
              <a:rPr lang="en-IN" dirty="0"/>
              <a:t>POST /</a:t>
            </a:r>
            <a:r>
              <a:rPr lang="en-IN" dirty="0" err="1"/>
              <a:t>api</a:t>
            </a:r>
            <a:r>
              <a:rPr lang="en-IN" dirty="0"/>
              <a:t>/v1/search/image</a:t>
            </a:r>
          </a:p>
          <a:p>
            <a:pPr>
              <a:buNone/>
            </a:pPr>
            <a:r>
              <a:rPr lang="en-IN" dirty="0"/>
              <a:t>REST APIs enable modular communication between system components while maintaining scalability and interoperability.</a:t>
            </a:r>
          </a:p>
          <a:p>
            <a:pPr marL="0" indent="0">
              <a:buNone/>
            </a:pPr>
            <a:endParaRPr lang="en-IN" dirty="0"/>
          </a:p>
        </p:txBody>
      </p:sp>
    </p:spTree>
    <p:extLst>
      <p:ext uri="{BB962C8B-B14F-4D97-AF65-F5344CB8AC3E}">
        <p14:creationId xmlns:p14="http://schemas.microsoft.com/office/powerpoint/2010/main" val="3506818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6FE9B-1AF1-D72B-2F30-62A2730E54C0}"/>
              </a:ext>
            </a:extLst>
          </p:cNvPr>
          <p:cNvSpPr>
            <a:spLocks noGrp="1"/>
          </p:cNvSpPr>
          <p:nvPr>
            <p:ph type="title"/>
          </p:nvPr>
        </p:nvSpPr>
        <p:spPr/>
        <p:txBody>
          <a:bodyPr/>
          <a:lstStyle/>
          <a:p>
            <a:r>
              <a:rPr lang="en-IN" dirty="0"/>
              <a:t>Slide 11 — Cosmos DB Data Model &amp; Search</a:t>
            </a:r>
          </a:p>
        </p:txBody>
      </p:sp>
      <p:sp>
        <p:nvSpPr>
          <p:cNvPr id="3" name="Content Placeholder 2">
            <a:extLst>
              <a:ext uri="{FF2B5EF4-FFF2-40B4-BE49-F238E27FC236}">
                <a16:creationId xmlns:a16="http://schemas.microsoft.com/office/drawing/2014/main" id="{29F0233E-5AB5-4580-502B-D96473972C26}"/>
              </a:ext>
            </a:extLst>
          </p:cNvPr>
          <p:cNvSpPr>
            <a:spLocks noGrp="1"/>
          </p:cNvSpPr>
          <p:nvPr>
            <p:ph idx="1"/>
          </p:nvPr>
        </p:nvSpPr>
        <p:spPr/>
        <p:txBody>
          <a:bodyPr>
            <a:normAutofit fontScale="85000" lnSpcReduction="20000"/>
          </a:bodyPr>
          <a:lstStyle/>
          <a:p>
            <a:pPr>
              <a:buNone/>
            </a:pPr>
            <a:r>
              <a:rPr lang="en-IN" dirty="0"/>
              <a:t>Cosmos DB is used to store media metadata as document objects.</a:t>
            </a:r>
          </a:p>
          <a:p>
            <a:pPr>
              <a:buNone/>
            </a:pPr>
            <a:r>
              <a:rPr lang="en-IN" dirty="0"/>
              <a:t>Each document represents a multimedia asset and contains attributes describing the content.</a:t>
            </a:r>
          </a:p>
          <a:p>
            <a:pPr>
              <a:buNone/>
            </a:pPr>
            <a:r>
              <a:rPr lang="en-IN" dirty="0"/>
              <a:t>Example fields include:</a:t>
            </a:r>
          </a:p>
          <a:p>
            <a:pPr>
              <a:buNone/>
            </a:pPr>
            <a:r>
              <a:rPr lang="en-IN" dirty="0" err="1"/>
              <a:t>assetId</a:t>
            </a:r>
            <a:br>
              <a:rPr lang="en-IN" dirty="0"/>
            </a:br>
            <a:r>
              <a:rPr lang="en-IN" dirty="0" err="1"/>
              <a:t>ownerId</a:t>
            </a:r>
            <a:br>
              <a:rPr lang="en-IN" dirty="0"/>
            </a:br>
            <a:r>
              <a:rPr lang="en-IN" dirty="0"/>
              <a:t>caption</a:t>
            </a:r>
            <a:br>
              <a:rPr lang="en-IN" dirty="0"/>
            </a:br>
            <a:r>
              <a:rPr lang="en-IN" dirty="0"/>
              <a:t>hashtags</a:t>
            </a:r>
            <a:br>
              <a:rPr lang="en-IN" dirty="0"/>
            </a:br>
            <a:r>
              <a:rPr lang="en-IN" dirty="0"/>
              <a:t>location</a:t>
            </a:r>
            <a:br>
              <a:rPr lang="en-IN" dirty="0"/>
            </a:br>
            <a:r>
              <a:rPr lang="en-IN" dirty="0" err="1"/>
              <a:t>mediaType</a:t>
            </a:r>
            <a:br>
              <a:rPr lang="en-IN" dirty="0"/>
            </a:br>
            <a:r>
              <a:rPr lang="en-IN" dirty="0"/>
              <a:t>engagement metrics</a:t>
            </a:r>
          </a:p>
          <a:p>
            <a:pPr>
              <a:buNone/>
            </a:pPr>
            <a:r>
              <a:rPr lang="en-IN" dirty="0"/>
              <a:t>This schema supports rapid retrieval of feed data and simplifies scaling.</a:t>
            </a:r>
          </a:p>
          <a:p>
            <a:pPr>
              <a:buNone/>
            </a:pPr>
            <a:r>
              <a:rPr lang="en-IN" dirty="0"/>
              <a:t>Advanced search features can use indexing and vector search capabilities to identify similar images or media.</a:t>
            </a:r>
          </a:p>
          <a:p>
            <a:pPr marL="0" indent="0">
              <a:buNone/>
            </a:pPr>
            <a:endParaRPr lang="en-IN" dirty="0"/>
          </a:p>
        </p:txBody>
      </p:sp>
    </p:spTree>
    <p:extLst>
      <p:ext uri="{BB962C8B-B14F-4D97-AF65-F5344CB8AC3E}">
        <p14:creationId xmlns:p14="http://schemas.microsoft.com/office/powerpoint/2010/main" val="2475284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73F98-8660-6AA9-CCE2-1F46E2745B2E}"/>
              </a:ext>
            </a:extLst>
          </p:cNvPr>
          <p:cNvSpPr>
            <a:spLocks noGrp="1"/>
          </p:cNvSpPr>
          <p:nvPr>
            <p:ph type="title"/>
          </p:nvPr>
        </p:nvSpPr>
        <p:spPr/>
        <p:txBody>
          <a:bodyPr>
            <a:normAutofit/>
          </a:bodyPr>
          <a:lstStyle/>
          <a:p>
            <a:r>
              <a:rPr lang="pt-BR" sz="1050" dirty="0"/>
              <a:t>Slide 12 — UML Sequence Diagram (Insert Image)</a:t>
            </a:r>
            <a:endParaRPr lang="en-IN" sz="2200" dirty="0"/>
          </a:p>
        </p:txBody>
      </p:sp>
      <p:sp>
        <p:nvSpPr>
          <p:cNvPr id="3" name="Content Placeholder 2">
            <a:extLst>
              <a:ext uri="{FF2B5EF4-FFF2-40B4-BE49-F238E27FC236}">
                <a16:creationId xmlns:a16="http://schemas.microsoft.com/office/drawing/2014/main" id="{E3BDD923-B1A2-EC15-AD36-B6DA654A8755}"/>
              </a:ext>
            </a:extLst>
          </p:cNvPr>
          <p:cNvSpPr>
            <a:spLocks noGrp="1"/>
          </p:cNvSpPr>
          <p:nvPr>
            <p:ph idx="1"/>
          </p:nvPr>
        </p:nvSpPr>
        <p:spPr/>
        <p:txBody>
          <a:bodyPr>
            <a:normAutofit fontScale="62500" lnSpcReduction="20000"/>
          </a:bodyPr>
          <a:lstStyle/>
          <a:p>
            <a:endParaRPr lang="en-IN"/>
          </a:p>
        </p:txBody>
      </p:sp>
      <p:sp>
        <p:nvSpPr>
          <p:cNvPr id="4" name="Content Placeholder 3">
            <a:extLst>
              <a:ext uri="{FF2B5EF4-FFF2-40B4-BE49-F238E27FC236}">
                <a16:creationId xmlns:a16="http://schemas.microsoft.com/office/drawing/2014/main" id="{50D2BD02-BE81-F51E-588F-ADA76C9734A9}"/>
              </a:ext>
            </a:extLst>
          </p:cNvPr>
          <p:cNvSpPr>
            <a:spLocks noGrp="1"/>
          </p:cNvSpPr>
          <p:nvPr>
            <p:ph idx="2"/>
          </p:nvPr>
        </p:nvSpPr>
        <p:spPr/>
        <p:txBody>
          <a:bodyPr>
            <a:normAutofit fontScale="62500" lnSpcReduction="20000"/>
          </a:bodyPr>
          <a:lstStyle/>
          <a:p>
            <a:pPr>
              <a:buNone/>
            </a:pPr>
            <a:r>
              <a:rPr lang="en-US" dirty="0"/>
              <a:t>The UML sequence diagram illustrates how system components interact when processing user requests.</a:t>
            </a:r>
          </a:p>
          <a:p>
            <a:pPr>
              <a:buNone/>
            </a:pPr>
            <a:r>
              <a:rPr lang="en-US" b="1" dirty="0"/>
              <a:t>Create Asset Operation</a:t>
            </a:r>
            <a:endParaRPr lang="en-US" dirty="0"/>
          </a:p>
          <a:p>
            <a:pPr>
              <a:buNone/>
            </a:pPr>
            <a:r>
              <a:rPr lang="en-US" dirty="0"/>
              <a:t>The user uploads a file and submits metadata through the web interface. The API processes the request, stores metadata in the database and generates an upload link for Blob Storage. Once the file is uploaded, serverless functions process the media and update the system.</a:t>
            </a:r>
          </a:p>
          <a:p>
            <a:pPr>
              <a:buNone/>
            </a:pPr>
            <a:r>
              <a:rPr lang="en-US" b="1" dirty="0"/>
              <a:t>Get Asset Operation</a:t>
            </a:r>
            <a:endParaRPr lang="en-US" dirty="0"/>
          </a:p>
          <a:p>
            <a:pPr>
              <a:buNone/>
            </a:pPr>
            <a:r>
              <a:rPr lang="en-US" dirty="0"/>
              <a:t>When retrieving media, the API checks user permissions, queries metadata from the database and returns the appropriate media content.</a:t>
            </a:r>
          </a:p>
          <a:p>
            <a:pPr>
              <a:buNone/>
            </a:pPr>
            <a:r>
              <a:rPr lang="en-US" dirty="0"/>
              <a:t>This interaction ensures privacy rules and access control are enforced before delivering media.</a:t>
            </a:r>
          </a:p>
          <a:p>
            <a:pPr marL="0" indent="0">
              <a:buNone/>
            </a:pPr>
            <a:endParaRPr lang="en-IN" dirty="0"/>
          </a:p>
        </p:txBody>
      </p:sp>
    </p:spTree>
    <p:extLst>
      <p:ext uri="{BB962C8B-B14F-4D97-AF65-F5344CB8AC3E}">
        <p14:creationId xmlns:p14="http://schemas.microsoft.com/office/powerpoint/2010/main" val="3658089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03A4D-5401-7451-2DC9-B1893239CA56}"/>
              </a:ext>
            </a:extLst>
          </p:cNvPr>
          <p:cNvSpPr>
            <a:spLocks noGrp="1"/>
          </p:cNvSpPr>
          <p:nvPr>
            <p:ph type="title"/>
          </p:nvPr>
        </p:nvSpPr>
        <p:spPr/>
        <p:txBody>
          <a:bodyPr/>
          <a:lstStyle/>
          <a:p>
            <a:r>
              <a:rPr lang="en-US" dirty="0"/>
              <a:t>Slide 13 — Advanced Platform Features</a:t>
            </a:r>
            <a:endParaRPr lang="en-IN" dirty="0"/>
          </a:p>
        </p:txBody>
      </p:sp>
      <p:sp>
        <p:nvSpPr>
          <p:cNvPr id="3" name="Content Placeholder 2">
            <a:extLst>
              <a:ext uri="{FF2B5EF4-FFF2-40B4-BE49-F238E27FC236}">
                <a16:creationId xmlns:a16="http://schemas.microsoft.com/office/drawing/2014/main" id="{445C28A5-C8EC-8A5D-C794-529202CD0A53}"/>
              </a:ext>
            </a:extLst>
          </p:cNvPr>
          <p:cNvSpPr>
            <a:spLocks noGrp="1"/>
          </p:cNvSpPr>
          <p:nvPr>
            <p:ph idx="1"/>
          </p:nvPr>
        </p:nvSpPr>
        <p:spPr/>
        <p:txBody>
          <a:bodyPr>
            <a:normAutofit fontScale="70000" lnSpcReduction="20000"/>
          </a:bodyPr>
          <a:lstStyle/>
          <a:p>
            <a:pPr>
              <a:buNone/>
            </a:pPr>
            <a:r>
              <a:rPr lang="en-US" dirty="0"/>
              <a:t>Several advanced features are proposed to enhance the platform.</a:t>
            </a:r>
          </a:p>
          <a:p>
            <a:pPr>
              <a:buNone/>
            </a:pPr>
            <a:r>
              <a:rPr lang="en-US" b="1" dirty="0"/>
              <a:t>Image Recognition</a:t>
            </a:r>
            <a:endParaRPr lang="en-US" dirty="0"/>
          </a:p>
          <a:p>
            <a:pPr>
              <a:buNone/>
            </a:pPr>
            <a:r>
              <a:rPr lang="en-US" dirty="0"/>
              <a:t>AI services can analyze uploaded images to identify objects and automatically generate tags.</a:t>
            </a:r>
          </a:p>
          <a:p>
            <a:pPr>
              <a:buNone/>
            </a:pPr>
            <a:r>
              <a:rPr lang="en-US" b="1" dirty="0"/>
              <a:t>Audio Recognition</a:t>
            </a:r>
            <a:endParaRPr lang="en-US" dirty="0"/>
          </a:p>
          <a:p>
            <a:pPr>
              <a:buNone/>
            </a:pPr>
            <a:r>
              <a:rPr lang="en-US" dirty="0"/>
              <a:t>Audio fingerprinting technology can identify music or sounds within uploaded media.</a:t>
            </a:r>
          </a:p>
          <a:p>
            <a:pPr>
              <a:buNone/>
            </a:pPr>
            <a:r>
              <a:rPr lang="en-US" b="1" dirty="0"/>
              <a:t>AI Content Moderation</a:t>
            </a:r>
            <a:endParaRPr lang="en-US" dirty="0"/>
          </a:p>
          <a:p>
            <a:pPr>
              <a:buNone/>
            </a:pPr>
            <a:r>
              <a:rPr lang="en-US" dirty="0"/>
              <a:t>Machine learning models can detect inappropriate or harmful content and flag it for review.</a:t>
            </a:r>
          </a:p>
          <a:p>
            <a:pPr>
              <a:buNone/>
            </a:pPr>
            <a:r>
              <a:rPr lang="en-US" b="1" dirty="0"/>
              <a:t>Recommendation Systems</a:t>
            </a:r>
            <a:endParaRPr lang="en-US" dirty="0"/>
          </a:p>
          <a:p>
            <a:pPr>
              <a:buNone/>
            </a:pPr>
            <a:r>
              <a:rPr lang="en-US" dirty="0"/>
              <a:t>Algorithms can recommend media based on user activity and engagement history.</a:t>
            </a:r>
          </a:p>
          <a:p>
            <a:pPr>
              <a:buNone/>
            </a:pPr>
            <a:r>
              <a:rPr lang="en-US" b="1" dirty="0"/>
              <a:t>Creator Monetization</a:t>
            </a:r>
            <a:endParaRPr lang="en-US" dirty="0"/>
          </a:p>
          <a:p>
            <a:pPr>
              <a:buNone/>
            </a:pPr>
            <a:r>
              <a:rPr lang="en-US" dirty="0"/>
              <a:t>Creators can enable premium subscriptions allowing followers to access exclusive content.</a:t>
            </a:r>
          </a:p>
          <a:p>
            <a:pPr marL="0" indent="0">
              <a:buNone/>
            </a:pPr>
            <a:endParaRPr lang="en-IN" dirty="0"/>
          </a:p>
        </p:txBody>
      </p:sp>
    </p:spTree>
    <p:extLst>
      <p:ext uri="{BB962C8B-B14F-4D97-AF65-F5344CB8AC3E}">
        <p14:creationId xmlns:p14="http://schemas.microsoft.com/office/powerpoint/2010/main" val="4140390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2AF0D-FCC8-3F3B-49B1-7922BBA1451E}"/>
              </a:ext>
            </a:extLst>
          </p:cNvPr>
          <p:cNvSpPr>
            <a:spLocks noGrp="1"/>
          </p:cNvSpPr>
          <p:nvPr>
            <p:ph type="title"/>
          </p:nvPr>
        </p:nvSpPr>
        <p:spPr/>
        <p:txBody>
          <a:bodyPr/>
          <a:lstStyle/>
          <a:p>
            <a:r>
              <a:rPr lang="en-IN" dirty="0"/>
              <a:t>Slide 14 — Limitations &amp; Scalability Considerations</a:t>
            </a:r>
          </a:p>
        </p:txBody>
      </p:sp>
      <p:sp>
        <p:nvSpPr>
          <p:cNvPr id="3" name="Content Placeholder 2">
            <a:extLst>
              <a:ext uri="{FF2B5EF4-FFF2-40B4-BE49-F238E27FC236}">
                <a16:creationId xmlns:a16="http://schemas.microsoft.com/office/drawing/2014/main" id="{4D143006-48CC-7F67-6BCC-FBB7C706ED53}"/>
              </a:ext>
            </a:extLst>
          </p:cNvPr>
          <p:cNvSpPr>
            <a:spLocks noGrp="1"/>
          </p:cNvSpPr>
          <p:nvPr>
            <p:ph idx="1"/>
          </p:nvPr>
        </p:nvSpPr>
        <p:spPr/>
        <p:txBody>
          <a:bodyPr>
            <a:normAutofit fontScale="85000" lnSpcReduction="20000"/>
          </a:bodyPr>
          <a:lstStyle/>
          <a:p>
            <a:pPr>
              <a:buNone/>
            </a:pPr>
            <a:r>
              <a:rPr lang="en-IN" dirty="0"/>
              <a:t>Despite its scalability, the system has certain limitations.</a:t>
            </a:r>
          </a:p>
          <a:p>
            <a:pPr>
              <a:buNone/>
            </a:pPr>
            <a:r>
              <a:rPr lang="en-IN" b="1" dirty="0"/>
              <a:t>AI Model Accuracy</a:t>
            </a:r>
            <a:endParaRPr lang="en-IN" dirty="0"/>
          </a:p>
          <a:p>
            <a:pPr>
              <a:buNone/>
            </a:pPr>
            <a:r>
              <a:rPr lang="en-IN" dirty="0"/>
              <a:t>Content moderation algorithms may occasionally misclassify media.</a:t>
            </a:r>
          </a:p>
          <a:p>
            <a:pPr>
              <a:buNone/>
            </a:pPr>
            <a:r>
              <a:rPr lang="en-IN" b="1" dirty="0"/>
              <a:t>Storage Costs</a:t>
            </a:r>
            <a:endParaRPr lang="en-IN" dirty="0"/>
          </a:p>
          <a:p>
            <a:pPr>
              <a:buNone/>
            </a:pPr>
            <a:r>
              <a:rPr lang="en-IN" dirty="0"/>
              <a:t>Large volumes of multimedia data may increase cloud storage expenses.</a:t>
            </a:r>
          </a:p>
          <a:p>
            <a:pPr>
              <a:buNone/>
            </a:pPr>
            <a:r>
              <a:rPr lang="en-IN" b="1" dirty="0"/>
              <a:t>Complex Privacy Management</a:t>
            </a:r>
            <a:endParaRPr lang="en-IN" dirty="0"/>
          </a:p>
          <a:p>
            <a:pPr>
              <a:buNone/>
            </a:pPr>
            <a:r>
              <a:rPr lang="en-IN" dirty="0"/>
              <a:t>Handling multiple visibility levels increases system complexity.</a:t>
            </a:r>
          </a:p>
          <a:p>
            <a:endParaRPr lang="en-IN" dirty="0"/>
          </a:p>
        </p:txBody>
      </p:sp>
      <p:sp>
        <p:nvSpPr>
          <p:cNvPr id="4" name="Content Placeholder 3">
            <a:extLst>
              <a:ext uri="{FF2B5EF4-FFF2-40B4-BE49-F238E27FC236}">
                <a16:creationId xmlns:a16="http://schemas.microsoft.com/office/drawing/2014/main" id="{9CFC1C11-04F1-C751-7DA7-744350A20F5B}"/>
              </a:ext>
            </a:extLst>
          </p:cNvPr>
          <p:cNvSpPr>
            <a:spLocks noGrp="1"/>
          </p:cNvSpPr>
          <p:nvPr>
            <p:ph idx="2"/>
          </p:nvPr>
        </p:nvSpPr>
        <p:spPr/>
        <p:txBody>
          <a:bodyPr>
            <a:normAutofit fontScale="85000" lnSpcReduction="20000"/>
          </a:bodyPr>
          <a:lstStyle/>
          <a:p>
            <a:pPr>
              <a:buNone/>
            </a:pPr>
            <a:r>
              <a:rPr lang="en-US" b="1" dirty="0"/>
              <a:t>Scalability Strategies</a:t>
            </a:r>
          </a:p>
          <a:p>
            <a:pPr>
              <a:buNone/>
            </a:pPr>
            <a:r>
              <a:rPr lang="en-US" dirty="0"/>
              <a:t>Azure serverless services automatically scale with demand.</a:t>
            </a:r>
          </a:p>
          <a:p>
            <a:pPr>
              <a:buNone/>
            </a:pPr>
            <a:r>
              <a:rPr lang="en-US" dirty="0"/>
              <a:t>Blob Storage supports virtually unlimited data storage capacity.</a:t>
            </a:r>
          </a:p>
          <a:p>
            <a:pPr>
              <a:buNone/>
            </a:pPr>
            <a:r>
              <a:rPr lang="en-US" dirty="0"/>
              <a:t>Content Delivery Networks improve global performance by caching frequently accessed media closer to users.</a:t>
            </a:r>
          </a:p>
          <a:p>
            <a:pPr>
              <a:buNone/>
            </a:pPr>
            <a:r>
              <a:rPr lang="en-US" dirty="0"/>
              <a:t>These strategies ensure the platform can support millions of users.</a:t>
            </a:r>
          </a:p>
          <a:p>
            <a:pPr marL="0" indent="0">
              <a:buNone/>
            </a:pPr>
            <a:endParaRPr lang="en-IN" dirty="0"/>
          </a:p>
        </p:txBody>
      </p:sp>
    </p:spTree>
    <p:extLst>
      <p:ext uri="{BB962C8B-B14F-4D97-AF65-F5344CB8AC3E}">
        <p14:creationId xmlns:p14="http://schemas.microsoft.com/office/powerpoint/2010/main" val="2718555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23B9B-5B42-87C1-9983-B01E8801E590}"/>
              </a:ext>
            </a:extLst>
          </p:cNvPr>
          <p:cNvSpPr>
            <a:spLocks noGrp="1"/>
          </p:cNvSpPr>
          <p:nvPr>
            <p:ph type="title"/>
          </p:nvPr>
        </p:nvSpPr>
        <p:spPr/>
        <p:txBody>
          <a:bodyPr/>
          <a:lstStyle/>
          <a:p>
            <a:r>
              <a:rPr lang="en-IN" dirty="0"/>
              <a:t>Slide 15 — References &amp; Submission Checklist</a:t>
            </a:r>
          </a:p>
        </p:txBody>
      </p:sp>
      <p:sp>
        <p:nvSpPr>
          <p:cNvPr id="3" name="Content Placeholder 2">
            <a:extLst>
              <a:ext uri="{FF2B5EF4-FFF2-40B4-BE49-F238E27FC236}">
                <a16:creationId xmlns:a16="http://schemas.microsoft.com/office/drawing/2014/main" id="{9A186FC0-363E-C830-5C71-7190626A9F01}"/>
              </a:ext>
            </a:extLst>
          </p:cNvPr>
          <p:cNvSpPr>
            <a:spLocks noGrp="1"/>
          </p:cNvSpPr>
          <p:nvPr>
            <p:ph idx="1"/>
          </p:nvPr>
        </p:nvSpPr>
        <p:spPr/>
        <p:txBody>
          <a:bodyPr/>
          <a:lstStyle/>
          <a:p>
            <a:pPr marL="0" indent="0">
              <a:buNone/>
            </a:pPr>
            <a:endParaRPr lang="en-IN"/>
          </a:p>
        </p:txBody>
      </p:sp>
    </p:spTree>
    <p:extLst>
      <p:ext uri="{BB962C8B-B14F-4D97-AF65-F5344CB8AC3E}">
        <p14:creationId xmlns:p14="http://schemas.microsoft.com/office/powerpoint/2010/main" val="4144182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1817</Words>
  <Application>Microsoft Office PowerPoint</Application>
  <PresentationFormat>Widescreen</PresentationFormat>
  <Paragraphs>161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HyMedia: Cloud-Native Multimedia Sharing Platform A scalable multimedia platform supporting images, videos, audio and GIF media with advanced search, privacy controls and creator monetization.</vt:lpstr>
      <vt:lpstr>Slide 2 — Introduction &amp; Problem Definition</vt:lpstr>
      <vt:lpstr>Slide 3 — Technical Challenges &amp; System Objectives</vt:lpstr>
      <vt:lpstr>Slide 4 — Cloud-Native Architecture Approach</vt:lpstr>
      <vt:lpstr>Slide 5 — Azure System Architecture (Insert Diagram)</vt:lpstr>
      <vt:lpstr>Slide 6 — Media Upload &amp; Processing Pipeline</vt:lpstr>
      <vt:lpstr>Slide 7 — Platform Features &amp; Privacy Controls</vt:lpstr>
      <vt:lpstr>Slide 8 — UI Wireframes (Feed &amp; Upload)</vt:lpstr>
      <vt:lpstr>Slide 9 — Database Architecture (Insert ER Diagram)</vt:lpstr>
      <vt:lpstr>Slide 10 — REST API Design</vt:lpstr>
      <vt:lpstr>Slide 11 — Cosmos DB Data Model &amp; Search</vt:lpstr>
      <vt:lpstr>Slide 12 — UML Sequence Diagram (Insert Image)</vt:lpstr>
      <vt:lpstr>Slide 13 — Advanced Platform Features</vt:lpstr>
      <vt:lpstr>Slide 14 — Limitations &amp; Scalability Considerations</vt:lpstr>
      <vt:lpstr>Slide 15 — References &amp; Submission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Abdulrehman Mohamedrafiq Vohra</dc:creator>
  <cp:lastModifiedBy>Abdulrehman Mohamedrafiq Vohra</cp:lastModifiedBy>
  <cp:revision>2</cp:revision>
  <dcterms:created xsi:type="dcterms:W3CDTF">2026-03-05T02:02:10Z</dcterms:created>
  <dcterms:modified xsi:type="dcterms:W3CDTF">2026-03-05T03:21:53Z</dcterms:modified>
</cp:coreProperties>
</file>