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954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8E3F9F-59F9-E709-31EF-052C753B6C7A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524003" y="1122361"/>
            <a:ext cx="9144000" cy="2387598"/>
          </a:xfrm>
        </p:spPr>
        <p:txBody>
          <a:bodyPr anchor="b" anchorCtr="1"/>
          <a:lstStyle>
            <a:lvl1pPr algn="ctr">
              <a:defRPr sz="6000"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AD7C4A-C58F-FF9D-2386-9D56693A79FB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524003" y="3602041"/>
            <a:ext cx="9144000" cy="1655758"/>
          </a:xfrm>
        </p:spPr>
        <p:txBody>
          <a:bodyPr anchorCtr="1"/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BB8CA0-02D2-8D7F-F10A-F4633BE7F063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DB193459-1914-41B3-B081-F33AE2E6D8DB}" type="datetime1">
              <a:rPr lang="en-IN"/>
              <a:pPr lvl="0"/>
              <a:t>06-03-2026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3E9094-E005-74BA-E183-BD3DCDB3CF0A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D1A768-4F74-FDD4-D841-06032985629E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E4E546BB-0881-49A6-88E2-258898FD1684}" type="slidenum"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952538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E463C-C367-3564-94BA-60F67FBF9B3B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BA9B3D-3041-AB44-AA07-637916E3BDCE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2D32ED-0965-5D6D-B60E-58D33CE79E53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203592EE-509A-4471-8C08-CA6F5127D80F}" type="datetime1">
              <a:rPr lang="en-IN"/>
              <a:pPr lvl="0"/>
              <a:t>06-03-2026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3C01AC-EC49-CDFC-5950-0C5336CC072F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64C1C5-6D5E-0B62-D295-E21C0A5D6637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9DD3B43-ADCA-4D94-9126-77A2B30C99E8}" type="slidenum"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19315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DB080-08E4-CC56-47D5-8C5E527A26D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1847" y="1709735"/>
            <a:ext cx="10515600" cy="2852735"/>
          </a:xfrm>
        </p:spPr>
        <p:txBody>
          <a:bodyPr anchor="b"/>
          <a:lstStyle>
            <a:lvl1pPr>
              <a:defRPr sz="6000"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020DA9-1AE8-32BA-46AB-80E822AB953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1847" y="4589465"/>
            <a:ext cx="10515600" cy="1500182"/>
          </a:xfrm>
        </p:spPr>
        <p:txBody>
          <a:bodyPr/>
          <a:lstStyle>
            <a:lvl1pPr marL="0" indent="0">
              <a:buNone/>
              <a:defRPr sz="2400">
                <a:solidFill>
                  <a:srgbClr val="767676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119370-5E35-7F95-F67C-58EBB9DABA75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1BCAA95-525E-43F4-A28E-5A48702FDB5D}" type="datetime1">
              <a:rPr lang="en-IN"/>
              <a:pPr lvl="0"/>
              <a:t>06-03-2026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9BE879-18C7-3DF5-7E10-EA2CC97AD953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2D69F4-6678-D438-BB52-255E0FC573B9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B3765B60-E5D2-4A64-BDB8-85EF62CAA475}" type="slidenum"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51382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F9972-FE32-DA03-7F34-C76AD1BE1C87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95739D-5CAB-BCB6-BB03-825CE610FE5F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825627"/>
            <a:ext cx="5181603" cy="435133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3D8C08-C999-C95A-996D-480763F958BB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6172200" y="1825627"/>
            <a:ext cx="5181603" cy="435133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CE0BF6-0D6C-364D-3C1D-2BDC9ED3D24D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F30000A-25A5-4483-A4BE-E89F98577963}" type="datetime1">
              <a:rPr lang="en-IN"/>
              <a:pPr lvl="0"/>
              <a:t>06-03-2026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6ECD3F-E795-7883-CEDB-8C746FF1EF6D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13E275-CFF5-F3CD-AD5B-75661A5BAA81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325301C-A3C7-4142-A5A0-9E52C9A57BC4}" type="slidenum"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25342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722A27-79A4-08D7-C349-F8BFD7AAAFD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365129"/>
            <a:ext cx="10515600" cy="132555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B1565A-B99B-D3F0-ABE3-5BA0EEE7969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9784" y="1681160"/>
            <a:ext cx="5157782" cy="823910"/>
          </a:xfr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F5F622-D5DD-A25F-FF30-FEB2B78D423F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839784" y="2505071"/>
            <a:ext cx="5157782" cy="36845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2ABDB3-E082-AA60-B7AF-9F5C62D03FC8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6172200" y="1681160"/>
            <a:ext cx="5183184" cy="823910"/>
          </a:xfr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0690676-6657-BE35-30ED-AF6EF7114E4E}"/>
              </a:ext>
            </a:extLst>
          </p:cNvPr>
          <p:cNvSpPr txBox="1">
            <a:spLocks noGrp="1"/>
          </p:cNvSpPr>
          <p:nvPr>
            <p:ph idx="4"/>
          </p:nvPr>
        </p:nvSpPr>
        <p:spPr>
          <a:xfrm>
            <a:off x="6172200" y="2505071"/>
            <a:ext cx="5183184" cy="36845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66547E-FCCC-7CA0-D45E-072B417630F3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EEC584EC-CA7A-4B0D-82FA-031277604BD8}" type="datetime1">
              <a:rPr lang="en-IN"/>
              <a:pPr lvl="0"/>
              <a:t>06-03-2026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6E760B9-39A8-4B68-DFBF-5260AF38F909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D99586-4F6D-7643-A728-741F9F08F4BE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FE353A2-F171-4768-B102-265C34753532}" type="slidenum"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29761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20E96-CE5F-B0B4-D842-056D1C3A4469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0463DE-86BC-2CCB-D617-E5AD2420000F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7E93A718-95ED-4950-A6BD-7AC4CAECB78C}" type="datetime1">
              <a:rPr lang="en-IN"/>
              <a:pPr lvl="0"/>
              <a:t>06-03-2026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600AB5-2B51-1D3E-F480-01ED817F2362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F7D610-39DD-7094-9DC7-FB49B73E5851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95439C8-8676-44A5-BC48-04FF205166A9}" type="slidenum"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04057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0B4788-0717-9B8B-AC80-6417C9F7AD40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2434793-7102-4244-B10E-8AB6CCFDA746}" type="datetime1">
              <a:rPr lang="en-IN"/>
              <a:pPr lvl="0"/>
              <a:t>06-03-2026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2BA3954-6828-1986-BEE4-3AF238D8D39F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01FC1C-C518-35D5-FD17-41BBB33ABCC0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B9AB82C5-5583-4505-A15C-92A0C248B6BA}" type="slidenum"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84404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FB5599-8FE5-2BC1-63E0-8B434B26C89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457200"/>
            <a:ext cx="3932240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942ECC-2CFA-51D3-D9D0-550DB762E9A1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5183184" y="987423"/>
            <a:ext cx="6172200" cy="487362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A13558-961C-8F6C-B41A-9C7FD3AD92BD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39784" y="2057400"/>
            <a:ext cx="3932240" cy="3811584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AE7294-D20C-8FB3-5D33-E82181D737A4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164FBA1-431A-44B0-A65F-59C2FC9ECF99}" type="datetime1">
              <a:rPr lang="en-IN"/>
              <a:pPr lvl="0"/>
              <a:t>06-03-2026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C1BC45-E21E-C9DF-2170-649266AE7D1A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708AFC-8B8C-9AF5-8CB6-CEE814B2BA60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E8598D1-0EC1-4E4D-B494-094B3E394B16}" type="slidenum"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96679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11CC78-5C8E-BB60-58E6-BF451CE9BE0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457200"/>
            <a:ext cx="3932240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C19E19E-A73C-E215-DDCD-7C91DB28A555}"/>
              </a:ext>
            </a:extLst>
          </p:cNvPr>
          <p:cNvSpPr txBox="1">
            <a:spLocks noGrp="1"/>
          </p:cNvSpPr>
          <p:nvPr>
            <p:ph type="pic" idx="1"/>
          </p:nvPr>
        </p:nvSpPr>
        <p:spPr>
          <a:xfrm>
            <a:off x="5183184" y="987423"/>
            <a:ext cx="6172200" cy="4873623"/>
          </a:xfrm>
        </p:spPr>
        <p:txBody>
          <a:bodyPr/>
          <a:lstStyle>
            <a:lvl1pPr marL="0" indent="0">
              <a:buNone/>
              <a:defRPr lang="en-IN" sz="3200"/>
            </a:lvl1pPr>
          </a:lstStyle>
          <a:p>
            <a:pPr lvl="0"/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97E008-B130-5911-2CCA-448419081876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39784" y="2057400"/>
            <a:ext cx="3932240" cy="3811584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B5EB52-E790-62D7-02C5-3FE3A4FC5FE2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BAB4130-3B03-45A4-8CDD-AB7EFB95D507}" type="datetime1">
              <a:rPr lang="en-IN"/>
              <a:pPr lvl="0"/>
              <a:t>06-03-2026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D5EA88-D3E6-FE7A-1580-ED6551A23397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93C4C6-C58E-3331-02C6-2C614D608C86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3CDEA4E9-AAFB-4929-9094-169430AD3E46}" type="slidenum"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89927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B7C7B-2320-E661-FA47-45AE65CD04C0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72BECC-9A6A-EBDD-63D3-5E16FEC67D4D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80814F-2B03-21D4-3561-395B06447317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4A97FB0-4B72-4312-8C4F-B52CA418BFD1}" type="datetime1">
              <a:rPr lang="en-IN"/>
              <a:pPr lvl="0"/>
              <a:t>06-03-2026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EF4AB7-1585-F71D-68D7-24318179DBB7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2BA828-45C7-B9E3-315C-CCBE7AEB1163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F76FD96-3E2E-40A3-83FC-8DCC8092D672}" type="slidenum"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95962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1F3E734-6457-BD29-8C9A-26BEDE9AB26C}"/>
              </a:ext>
            </a:extLst>
          </p:cNvPr>
          <p:cNvSpPr txBox="1">
            <a:spLocks noGrp="1"/>
          </p:cNvSpPr>
          <p:nvPr>
            <p:ph type="title" orient="vert"/>
          </p:nvPr>
        </p:nvSpPr>
        <p:spPr>
          <a:xfrm>
            <a:off x="8724903" y="365129"/>
            <a:ext cx="2628899" cy="5811834"/>
          </a:xfrm>
        </p:spPr>
        <p:txBody>
          <a:bodyPr vert="eaVert"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316835-DA1D-C882-1CD0-17667A1E7F68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>
          <a:xfrm>
            <a:off x="838203" y="365129"/>
            <a:ext cx="7734296" cy="5811834"/>
          </a:xfrm>
        </p:spPr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0B9F92-C6A8-977B-CA6F-307FD3F75239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49746436-B872-4C1C-92BD-21CD79B48E74}" type="datetime1">
              <a:rPr lang="en-IN"/>
              <a:pPr lvl="0"/>
              <a:t>06-03-2026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9102BE-8397-1933-3BED-02212A009E9C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AD95FF-61CE-FC8C-FAB3-5CD6CC720C71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D8B3118-C37E-41CF-AF79-639CED5770C9}" type="slidenum"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52627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A810304-AF89-AA2E-0B01-0240FA6817A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365129"/>
            <a:ext cx="10515600" cy="13255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rmAutofit/>
          </a:bodyPr>
          <a:lstStyle/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DE4426-6D93-1955-4B33-60FCF6B9392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3" y="1825627"/>
            <a:ext cx="10515600" cy="435133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388025-67E0-EA44-5D5C-55EA28E0EAFC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8382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IN" sz="1200" b="0" i="0" u="none" strike="noStrike" kern="1200" cap="none" spc="0" baseline="0">
                <a:solidFill>
                  <a:srgbClr val="767676"/>
                </a:solidFill>
                <a:uFillTx/>
                <a:latin typeface="Aptos"/>
              </a:defRPr>
            </a:lvl1pPr>
          </a:lstStyle>
          <a:p>
            <a:pPr lvl="0"/>
            <a:fld id="{CD141CEA-2F3C-44D3-84FC-30ECED96DBB8}" type="datetime1">
              <a:rPr lang="en-IN"/>
              <a:pPr lvl="0"/>
              <a:t>06-03-2026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D653AE-490F-D0CA-76CD-4471923722FA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4038603" y="6356351"/>
            <a:ext cx="41148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1" compatLnSpc="1">
            <a:noAutofit/>
          </a:bodyPr>
          <a:lstStyle>
            <a:lvl1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IN" sz="1200" b="0" i="0" u="none" strike="noStrike" kern="1200" cap="none" spc="0" baseline="0">
                <a:solidFill>
                  <a:srgbClr val="767676"/>
                </a:solidFill>
                <a:uFillTx/>
                <a:latin typeface="Aptos"/>
              </a:defRPr>
            </a:lvl1pPr>
          </a:lstStyle>
          <a:p>
            <a:pPr lvl="0"/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CAEB1D-DAE5-9945-EAE8-2ACE3689570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6106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IN" sz="1200" b="0" i="0" u="none" strike="noStrike" kern="1200" cap="none" spc="0" baseline="0">
                <a:solidFill>
                  <a:srgbClr val="767676"/>
                </a:solidFill>
                <a:uFillTx/>
                <a:latin typeface="Aptos"/>
              </a:defRPr>
            </a:lvl1pPr>
          </a:lstStyle>
          <a:p>
            <a:pPr lvl="0"/>
            <a:fld id="{3CD178E7-A2D1-4777-809B-F5B5F76C1FBA}" type="slidenum"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marL="0" marR="0" lvl="0" indent="0" algn="l" defTabSz="914400" rtl="0" fontAlgn="auto" hangingPunct="1">
        <a:lnSpc>
          <a:spcPct val="90000"/>
        </a:lnSpc>
        <a:spcBef>
          <a:spcPts val="0"/>
        </a:spcBef>
        <a:spcAft>
          <a:spcPts val="0"/>
        </a:spcAft>
        <a:buNone/>
        <a:tabLst/>
        <a:defRPr lang="en-US" sz="4400" b="0" i="0" u="none" strike="noStrike" kern="1200" cap="none" spc="0" baseline="0">
          <a:solidFill>
            <a:srgbClr val="000000"/>
          </a:solidFill>
          <a:uFillTx/>
          <a:latin typeface="Aptos Display"/>
        </a:defRPr>
      </a:lvl1pPr>
    </p:titleStyle>
    <p:bodyStyle>
      <a:lvl1pPr marL="228600" marR="0" lvl="0" indent="-228600" algn="l" defTabSz="914400" rtl="0" fontAlgn="auto" hangingPunct="1">
        <a:lnSpc>
          <a:spcPct val="90000"/>
        </a:lnSpc>
        <a:spcBef>
          <a:spcPts val="1000"/>
        </a:spcBef>
        <a:spcAft>
          <a:spcPts val="0"/>
        </a:spcAft>
        <a:buSzPct val="100000"/>
        <a:buFont typeface="Arial" pitchFamily="34"/>
        <a:buChar char="•"/>
        <a:tabLst/>
        <a:defRPr lang="en-US" sz="2800" b="0" i="0" u="none" strike="noStrike" kern="1200" cap="none" spc="0" baseline="0">
          <a:solidFill>
            <a:srgbClr val="000000"/>
          </a:solidFill>
          <a:uFillTx/>
          <a:latin typeface="Aptos"/>
        </a:defRPr>
      </a:lvl1pPr>
      <a:lvl2pPr marL="685800" marR="0" lvl="1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2400" b="0" i="0" u="none" strike="noStrike" kern="1200" cap="none" spc="0" baseline="0">
          <a:solidFill>
            <a:srgbClr val="000000"/>
          </a:solidFill>
          <a:uFillTx/>
          <a:latin typeface="Aptos"/>
        </a:defRPr>
      </a:lvl2pPr>
      <a:lvl3pPr marL="1143000" marR="0" lvl="2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2000" b="0" i="0" u="none" strike="noStrike" kern="1200" cap="none" spc="0" baseline="0">
          <a:solidFill>
            <a:srgbClr val="000000"/>
          </a:solidFill>
          <a:uFillTx/>
          <a:latin typeface="Aptos"/>
        </a:defRPr>
      </a:lvl3pPr>
      <a:lvl4pPr marL="1600200" marR="0" lvl="3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1800" b="0" i="0" u="none" strike="noStrike" kern="1200" cap="none" spc="0" baseline="0">
          <a:solidFill>
            <a:srgbClr val="000000"/>
          </a:solidFill>
          <a:uFillTx/>
          <a:latin typeface="Aptos"/>
        </a:defRPr>
      </a:lvl4pPr>
      <a:lvl5pPr marL="2057400" marR="0" lvl="4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1800" b="0" i="0" u="none" strike="noStrike" kern="1200" cap="none" spc="0" baseline="0">
          <a:solidFill>
            <a:srgbClr val="000000"/>
          </a:solidFill>
          <a:uFillTx/>
          <a:latin typeface="Apto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hyperlink" Target="https://learn.microsoft.com/en-us/azure/architecture/best-practices/api-design" TargetMode="External"/><Relationship Id="rId3" Type="http://schemas.openxmlformats.org/officeDocument/2006/relationships/hyperlink" Target="https://learn.microsoft.com/en-us/azure/storage/blobs/" TargetMode="External"/><Relationship Id="rId7" Type="http://schemas.openxmlformats.org/officeDocument/2006/relationships/hyperlink" Target="https://learn.microsoft.com/en-us/azure/cdn/" TargetMode="External"/><Relationship Id="rId2" Type="http://schemas.openxmlformats.org/officeDocument/2006/relationships/hyperlink" Target="https://aws.amazon.com/what-is-cloud-computing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learn.microsoft.com/en-us/azure/logic-apps/" TargetMode="External"/><Relationship Id="rId5" Type="http://schemas.openxmlformats.org/officeDocument/2006/relationships/hyperlink" Target="https://learn.microsoft.com/en-us/azure/azure-functions/" TargetMode="External"/><Relationship Id="rId4" Type="http://schemas.openxmlformats.org/officeDocument/2006/relationships/hyperlink" Target="https://learn.microsoft.com/en-us/azure/cosmos-db/" TargetMode="Externa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76CE7-E680-21C1-CB85-27E160808E76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524003" y="210312"/>
            <a:ext cx="9144000" cy="996696"/>
          </a:xfrm>
        </p:spPr>
        <p:txBody>
          <a:bodyPr/>
          <a:lstStyle/>
          <a:p>
            <a:pPr lvl="0"/>
            <a:r>
              <a:rPr lang="en-US" sz="2800" b="1"/>
              <a:t>HyMedia: Cloud-Native Multimedia Sharing Platform</a:t>
            </a:r>
            <a:br>
              <a:rPr lang="en-US" sz="2000"/>
            </a:br>
            <a:r>
              <a:rPr lang="en-US" sz="1600"/>
              <a:t>A scalable multimedia platform supporting images, videos, audio and GIF media with advanced search, privacy controls and creator monetization.</a:t>
            </a:r>
            <a:endParaRPr lang="en-IN" sz="160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A89DE2-6041-5581-FDE5-C75FD471EE4F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524003" y="1499616"/>
            <a:ext cx="9144000" cy="4599432"/>
          </a:xfrm>
        </p:spPr>
        <p:txBody>
          <a:bodyPr anchorCtr="0"/>
          <a:lstStyle/>
          <a:p>
            <a:pPr lvl="0"/>
            <a:r>
              <a:rPr lang="en-IN" sz="2000" b="1" dirty="0"/>
              <a:t>Name</a:t>
            </a:r>
            <a:r>
              <a:rPr lang="en-IN" sz="2000" dirty="0"/>
              <a:t>: Abdulrehman Mohamedrafiq Vohra</a:t>
            </a:r>
            <a:br>
              <a:rPr lang="en-IN" sz="2000" dirty="0"/>
            </a:br>
            <a:r>
              <a:rPr lang="en-IN" sz="2000" b="1" dirty="0"/>
              <a:t>Student ID</a:t>
            </a:r>
            <a:r>
              <a:rPr lang="en-IN" sz="2000" dirty="0"/>
              <a:t>: B00968573</a:t>
            </a:r>
            <a:br>
              <a:rPr lang="en-IN" sz="2000" dirty="0"/>
            </a:br>
            <a:r>
              <a:rPr lang="en-IN" sz="2000" b="1" dirty="0"/>
              <a:t>Course</a:t>
            </a:r>
            <a:r>
              <a:rPr lang="en-IN" sz="2000" dirty="0"/>
              <a:t>: COM682_Cloud_Native_Development</a:t>
            </a:r>
          </a:p>
          <a:p>
            <a:pPr lvl="0"/>
            <a:endParaRPr lang="en-IN" sz="2000" dirty="0"/>
          </a:p>
          <a:p>
            <a:pPr lvl="0"/>
            <a:r>
              <a:rPr lang="en-IN" sz="2200" b="1" dirty="0"/>
              <a:t>System Overview</a:t>
            </a:r>
          </a:p>
          <a:p>
            <a:pPr>
              <a:buNone/>
            </a:pPr>
            <a:r>
              <a:rPr lang="en-US" sz="2000" dirty="0" err="1"/>
              <a:t>HyMedia</a:t>
            </a:r>
            <a:r>
              <a:rPr lang="en-US" sz="2000" dirty="0"/>
              <a:t> is a cloud-native multimedia sharing platform designed to run on </a:t>
            </a:r>
            <a:r>
              <a:rPr lang="en-US" sz="2000" b="1" dirty="0"/>
              <a:t>Microsoft Azure</a:t>
            </a:r>
            <a:r>
              <a:rPr lang="en-US" sz="2000" dirty="0"/>
              <a:t>. The system enables users to upload, manage, and interact with media such as images, videos, and audio while supporting features like </a:t>
            </a:r>
            <a:r>
              <a:rPr lang="en-US" sz="2000" b="1" dirty="0"/>
              <a:t>tagging, privacy controls, sensitive content filtering, and premium creator subscriptions</a:t>
            </a:r>
            <a:r>
              <a:rPr lang="en-US" sz="2000" dirty="0"/>
              <a:t>.</a:t>
            </a:r>
          </a:p>
          <a:p>
            <a:pPr>
              <a:buNone/>
            </a:pPr>
            <a:r>
              <a:rPr lang="en-US" sz="2000" dirty="0"/>
              <a:t>The platform uses a </a:t>
            </a:r>
            <a:r>
              <a:rPr lang="en-US" sz="2000" b="1" dirty="0"/>
              <a:t>serverless architecture with REST APIs, scalable cloud storage, and asynchronous processing</a:t>
            </a:r>
            <a:r>
              <a:rPr lang="en-US" sz="2000" dirty="0"/>
              <a:t> to ensure efficient media handling and the ability to scale as user activity and content volume increase.</a:t>
            </a:r>
          </a:p>
          <a:p>
            <a:pPr lvl="0"/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0C329F-BA84-D876-EEA2-B257B713FD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4220562" cy="1188950"/>
          </a:xfrm>
        </p:spPr>
        <p:txBody>
          <a:bodyPr anchor="b">
            <a:normAutofit/>
          </a:bodyPr>
          <a:lstStyle/>
          <a:p>
            <a:r>
              <a:rPr lang="en-IN" sz="4200" dirty="0"/>
              <a:t>Problem definition 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C4C8E0-46EB-7325-8FAC-11A116751E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2203079"/>
            <a:ext cx="10143668" cy="4147845"/>
          </a:xfrm>
        </p:spPr>
        <p:txBody>
          <a:bodyPr anchor="ctr">
            <a:normAutofit/>
          </a:bodyPr>
          <a:lstStyle/>
          <a:p>
            <a:pPr>
              <a:buNone/>
            </a:pPr>
            <a:r>
              <a:rPr lang="en-IN" sz="1400" dirty="0"/>
              <a:t>A multimedia social platform has two very different workload types:</a:t>
            </a:r>
          </a:p>
          <a:p>
            <a:pPr>
              <a:buFont typeface="+mj-lt"/>
              <a:buAutoNum type="arabicPeriod"/>
            </a:pPr>
            <a:r>
              <a:rPr lang="en-IN" sz="1400" b="1" dirty="0"/>
              <a:t>Large binary objects</a:t>
            </a:r>
            <a:r>
              <a:rPr lang="en-IN" sz="1400" dirty="0"/>
              <a:t> (media files)</a:t>
            </a:r>
            <a:br>
              <a:rPr lang="en-IN" sz="1400" dirty="0"/>
            </a:br>
            <a:r>
              <a:rPr lang="en-IN" sz="1400" dirty="0"/>
              <a:t>Images/videos/audio are heavy and require scalable object storage, high throughput, and global delivery.</a:t>
            </a:r>
          </a:p>
          <a:p>
            <a:pPr>
              <a:buFont typeface="+mj-lt"/>
              <a:buAutoNum type="arabicPeriod"/>
            </a:pPr>
            <a:r>
              <a:rPr lang="en-IN" sz="1400" b="1" dirty="0"/>
              <a:t>Hot metadata</a:t>
            </a:r>
            <a:r>
              <a:rPr lang="en-IN" sz="1400" dirty="0"/>
              <a:t> (likes, comments, tags, feed ranking)</a:t>
            </a:r>
            <a:br>
              <a:rPr lang="en-IN" sz="1400" dirty="0"/>
            </a:br>
            <a:r>
              <a:rPr lang="en-IN" sz="1400" dirty="0"/>
              <a:t>Metadata changes constantly and must support fast reads for infinite scrolling feeds and search filtering.</a:t>
            </a:r>
          </a:p>
          <a:p>
            <a:pPr>
              <a:buNone/>
            </a:pPr>
            <a:r>
              <a:rPr lang="en-IN" sz="1400" dirty="0"/>
              <a:t>Traditional solutions (single VM/monolith) break under: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400" b="1" dirty="0"/>
              <a:t>Burst traffic</a:t>
            </a:r>
            <a:r>
              <a:rPr lang="en-IN" sz="1400" dirty="0"/>
              <a:t> (viral content spikes)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400" b="1" dirty="0"/>
              <a:t>CPU-heavy processing</a:t>
            </a:r>
            <a:r>
              <a:rPr lang="en-IN" sz="1400" dirty="0"/>
              <a:t> (thumbnails, transcoding, waveforms, AI tagging)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400" b="1" dirty="0"/>
              <a:t>Global latency</a:t>
            </a:r>
            <a:r>
              <a:rPr lang="en-IN" sz="1400" dirty="0"/>
              <a:t> (users far from origin)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400" b="1" dirty="0"/>
              <a:t>Complex privacy</a:t>
            </a:r>
            <a:r>
              <a:rPr lang="en-IN" sz="1400" dirty="0"/>
              <a:t> (private-to-selected users, premium-only, unlisted links)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400" b="1" dirty="0"/>
              <a:t>Safety &amp; compliance</a:t>
            </a:r>
            <a:r>
              <a:rPr lang="en-IN" sz="1400" dirty="0"/>
              <a:t> (sensitive content filters + 18+ gating)</a:t>
            </a:r>
          </a:p>
          <a:p>
            <a:pPr>
              <a:buNone/>
            </a:pPr>
            <a:r>
              <a:rPr lang="en-IN" sz="1400" dirty="0"/>
              <a:t>This creates a requirement for a </a:t>
            </a:r>
            <a:r>
              <a:rPr lang="en-IN" sz="1400" b="1" dirty="0"/>
              <a:t>cloud-native architecture</a:t>
            </a:r>
            <a:r>
              <a:rPr lang="en-IN" sz="1400" dirty="0"/>
              <a:t> that supports horizontal scaling, asynchronous processing, and managed storage/services.</a:t>
            </a:r>
          </a:p>
          <a:p>
            <a:pPr marL="228600" marR="0" lvl="0" indent="-228600" defTabSz="914400" rtl="0" eaLnBrk="1" fontAlgn="auto" latinLnBrk="0" hangingPunct="1"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 pitchFamily="34"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5389488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id="{E02239D2-A05D-4A1C-9F06-FBA7FC730E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6B8610-4D85-E52E-5B8A-38B92F09A9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9300" y="538956"/>
            <a:ext cx="8985250" cy="1118394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spcBef>
                <a:spcPct val="0"/>
              </a:spcBef>
            </a:pPr>
            <a:r>
              <a:rPr lang="en-IN" sz="4000" dirty="0"/>
              <a:t>Cloud-native approach &amp; design principles</a:t>
            </a:r>
            <a:endParaRPr lang="en-US" sz="4000" kern="1200" dirty="0">
              <a:latin typeface="+mj-lt"/>
              <a:ea typeface="+mj-ea"/>
              <a:cs typeface="+mj-cs"/>
            </a:endParaRPr>
          </a:p>
        </p:txBody>
      </p:sp>
      <p:pic>
        <p:nvPicPr>
          <p:cNvPr id="29" name="Graphic 28" descr="Server">
            <a:extLst>
              <a:ext uri="{FF2B5EF4-FFF2-40B4-BE49-F238E27FC236}">
                <a16:creationId xmlns:a16="http://schemas.microsoft.com/office/drawing/2014/main" id="{DC03595D-38F9-D624-45A6-6D545715C1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4900" y="538956"/>
            <a:ext cx="749300" cy="749300"/>
          </a:xfrm>
          <a:prstGeom prst="rect">
            <a:avLst/>
          </a:prstGeom>
        </p:spPr>
      </p:pic>
      <p:sp>
        <p:nvSpPr>
          <p:cNvPr id="25" name="Rectangle 7">
            <a:extLst>
              <a:ext uri="{FF2B5EF4-FFF2-40B4-BE49-F238E27FC236}">
                <a16:creationId xmlns:a16="http://schemas.microsoft.com/office/drawing/2014/main" id="{C3692F87-F15B-076F-DF1F-48A7C8A52EF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09650" y="1847849"/>
            <a:ext cx="9994900" cy="425450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Architecture style: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Serverless + event-driven “Web–Queue–Worker” pattern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Reason: keep the user-facing path fast and offload slow tasks to a scalable worker.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Key design principles (REST + cloud):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Stateless API layer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(scales easily; no server-side session state)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Resource-oriented REST design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using HTTP verbs (GET/POST/PATCH/DELETE)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Direct-to-Blob uploads using time-limited SAS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(avoid routing huge files through API)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Async processing pipeline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using queue + Functions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Polyglot persistence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</a:t>
            </a:r>
          </a:p>
          <a:p>
            <a:pPr marL="457200" marR="0" lvl="1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SQL for identity, ACLs, entitlements, payments/audit</a:t>
            </a:r>
          </a:p>
          <a:p>
            <a:pPr marL="457200" marR="0" lvl="1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NoSQL for flexible feed metadata and evolving content signals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Defense-in-depth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auth, access checks, private URL signing, encryption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Service evolution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API versioning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60163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55F7ABCA-A68A-47DD-B732-76FF34C6FB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7215F9-02BB-2412-D356-1E3C0F500D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5" y="3505199"/>
            <a:ext cx="4809068" cy="2608143"/>
          </a:xfrm>
        </p:spPr>
        <p:txBody>
          <a:bodyPr anchor="t">
            <a:normAutofit/>
          </a:bodyPr>
          <a:lstStyle/>
          <a:p>
            <a:pPr algn="ctr"/>
            <a:r>
              <a:rPr lang="en-US" sz="4000"/>
              <a:t>System scope (what HyMedia supports)</a:t>
            </a:r>
            <a:endParaRPr lang="en-IN" sz="4000"/>
          </a:p>
        </p:txBody>
      </p:sp>
      <p:pic>
        <p:nvPicPr>
          <p:cNvPr id="13" name="Graphic 12" descr="Images">
            <a:extLst>
              <a:ext uri="{FF2B5EF4-FFF2-40B4-BE49-F238E27FC236}">
                <a16:creationId xmlns:a16="http://schemas.microsoft.com/office/drawing/2014/main" id="{7F2CF6BE-0623-1D87-D4B5-2CC1E051B6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90799" y="2519363"/>
            <a:ext cx="914400" cy="91440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6381F8-0CCC-988F-B5E2-6BFBD53912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07100" y="643467"/>
            <a:ext cx="5668433" cy="5401733"/>
          </a:xfrm>
        </p:spPr>
        <p:txBody>
          <a:bodyPr anchor="ctr">
            <a:normAutofit/>
          </a:bodyPr>
          <a:lstStyle/>
          <a:p>
            <a:pPr>
              <a:buNone/>
            </a:pPr>
            <a:r>
              <a:rPr lang="en-IN" sz="1500" b="1" dirty="0"/>
              <a:t>Supported media types</a:t>
            </a:r>
            <a:endParaRPr lang="en-IN" sz="15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1500" dirty="0"/>
              <a:t>Images: JPG/JPEG, PNG, GIF, WEBP, HEIC/HEIF, BMP/TIFF (stored as blobs)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500" dirty="0"/>
              <a:t>Video: MP4, MOV, WEBM, MKV (stored as blobs; transcoding planned)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500" dirty="0"/>
              <a:t>Audio: MP3, WAV, AAC/M4A, OGG (stored as blobs; waveform/transcription planned)</a:t>
            </a:r>
          </a:p>
          <a:p>
            <a:pPr>
              <a:buNone/>
            </a:pPr>
            <a:r>
              <a:rPr lang="en-IN" sz="1500" b="1" dirty="0"/>
              <a:t>Core user features</a:t>
            </a:r>
            <a:endParaRPr lang="en-IN" sz="15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1500" dirty="0"/>
              <a:t>Signup/Login + session cookies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500" dirty="0"/>
              <a:t>Upload with caption, hashtags, </a:t>
            </a:r>
            <a:r>
              <a:rPr lang="en-IN" sz="1500" b="1" dirty="0"/>
              <a:t>tag users</a:t>
            </a:r>
            <a:r>
              <a:rPr lang="en-IN" sz="1500" dirty="0"/>
              <a:t>, </a:t>
            </a:r>
            <a:r>
              <a:rPr lang="en-IN" sz="1500" b="1" dirty="0"/>
              <a:t>tag location</a:t>
            </a:r>
            <a:endParaRPr lang="en-IN" sz="15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1500" dirty="0"/>
              <a:t>Likes + comments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500" dirty="0"/>
              <a:t>Infinite scroll home feed + explore page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500" dirty="0"/>
              <a:t>Advanced search (filters + tags + location)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500" dirty="0"/>
              <a:t>Sensitive content preferences + 18+ gating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500" dirty="0"/>
              <a:t>Privacy per post: public/private-to-selected/unlisted/premium-only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500" dirty="0"/>
              <a:t>Creator subscriptions &amp; monetization (planned)</a:t>
            </a:r>
          </a:p>
        </p:txBody>
      </p:sp>
    </p:spTree>
    <p:extLst>
      <p:ext uri="{BB962C8B-B14F-4D97-AF65-F5344CB8AC3E}">
        <p14:creationId xmlns:p14="http://schemas.microsoft.com/office/powerpoint/2010/main" val="36558886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AEACD5-27B8-08F3-7EBA-098B53BAD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3" y="210313"/>
            <a:ext cx="6428871" cy="863113"/>
          </a:xfrm>
        </p:spPr>
        <p:txBody>
          <a:bodyPr>
            <a:normAutofit fontScale="90000"/>
          </a:bodyPr>
          <a:lstStyle/>
          <a:p>
            <a:r>
              <a:rPr lang="en-IN" dirty="0"/>
              <a:t>Azure high-level architecture 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FDF18C2E-718A-223D-24D4-7B11498C9A2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271608"/>
            <a:ext cx="5960166" cy="54784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Frontend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Azure Static Web Apps (SPA UI + theme system)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API gateway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Azure API Management (auth enforcement, throttling, version routing)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REST API orchestration (CW requirement)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Azure Logic Apps (HTTP-trigger) as CRUD endpoints and integration hub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Storage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Azure Blob Storage for media binaries (unstructured data)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Azure CDN for fast global delivery (public assets; private via signed URLs)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Databases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Azure SQL: users, sessions, privacy ACL, creator subscriptions, payouts ledger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Azure Cosmos DB: denormalized feed docs, tags, engagement counts, AI labels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Processing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Queue (Service Bus or Storage Queue) for async tasks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Azure Functions for processing (thumbnails/transcode/waveform/AI enrichment)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 services (planned/advanced)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Vision for auto-tagging + image embeddings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Speech for transcription (audio/video)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Azure AI Search for text + vector search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53CE337-E501-EBF3-4577-DBA64AA00C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8790" y="0"/>
            <a:ext cx="546320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54237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02239D2-A05D-4A1C-9F06-FBA7FC730E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CC9B093-7BAC-9DAF-DEC8-5992F8E99F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9300" y="457199"/>
            <a:ext cx="8985250" cy="640953"/>
          </a:xfrm>
        </p:spPr>
        <p:txBody>
          <a:bodyPr anchor="t">
            <a:normAutofit fontScale="90000"/>
          </a:bodyPr>
          <a:lstStyle/>
          <a:p>
            <a:r>
              <a:rPr lang="en-US" sz="3700" dirty="0"/>
              <a:t>Detailed workflow: Upload → process → publish</a:t>
            </a:r>
            <a:endParaRPr lang="en-IN" sz="3700" dirty="0"/>
          </a:p>
        </p:txBody>
      </p:sp>
      <p:pic>
        <p:nvPicPr>
          <p:cNvPr id="7" name="Graphic 6" descr="Syncing Cloud">
            <a:extLst>
              <a:ext uri="{FF2B5EF4-FFF2-40B4-BE49-F238E27FC236}">
                <a16:creationId xmlns:a16="http://schemas.microsoft.com/office/drawing/2014/main" id="{59EF9411-4905-D85B-089C-46A439FE33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9825" y="348853"/>
            <a:ext cx="749300" cy="74930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F4234C-64E2-39E2-A090-2DD896FAE0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9650" y="1209675"/>
            <a:ext cx="9994900" cy="4892676"/>
          </a:xfrm>
        </p:spPr>
        <p:txBody>
          <a:bodyPr>
            <a:noAutofit/>
          </a:bodyPr>
          <a:lstStyle/>
          <a:p>
            <a:endParaRPr lang="en-IN" sz="1200" dirty="0"/>
          </a:p>
          <a:p>
            <a:pPr marL="0" indent="0">
              <a:buNone/>
            </a:pPr>
            <a:r>
              <a:rPr lang="en-IN" sz="1200" b="1" dirty="0"/>
              <a:t>Fast path (synchronous)</a:t>
            </a:r>
            <a:endParaRPr lang="en-IN" sz="1200" dirty="0"/>
          </a:p>
          <a:p>
            <a:pPr>
              <a:buFont typeface="+mj-lt"/>
              <a:buAutoNum type="arabicPeriod"/>
            </a:pPr>
            <a:r>
              <a:rPr lang="en-IN" sz="1200" dirty="0"/>
              <a:t>Browser sends </a:t>
            </a:r>
            <a:r>
              <a:rPr lang="en-IN" sz="1200" dirty="0">
                <a:latin typeface="Courier New" panose="02070309020205020404" pitchFamily="49" charset="0"/>
              </a:rPr>
              <a:t>POST /</a:t>
            </a:r>
            <a:r>
              <a:rPr lang="en-IN" sz="1200" dirty="0" err="1">
                <a:latin typeface="Courier New" panose="02070309020205020404" pitchFamily="49" charset="0"/>
              </a:rPr>
              <a:t>api</a:t>
            </a:r>
            <a:r>
              <a:rPr lang="en-IN" sz="1200" dirty="0">
                <a:latin typeface="Courier New" panose="02070309020205020404" pitchFamily="49" charset="0"/>
              </a:rPr>
              <a:t>/v1/assets</a:t>
            </a:r>
            <a:r>
              <a:rPr lang="en-IN" sz="1200" dirty="0"/>
              <a:t> with metadata (privacy, tags, sensitive flags).</a:t>
            </a:r>
          </a:p>
          <a:p>
            <a:pPr>
              <a:buFont typeface="+mj-lt"/>
              <a:buAutoNum type="arabicPeriod"/>
            </a:pPr>
            <a:r>
              <a:rPr lang="en-IN" sz="1200" dirty="0"/>
              <a:t>Logic App validates identity, creates DB records (SQL/Cosmos), returns: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IN" sz="1200" dirty="0" err="1">
                <a:latin typeface="Courier New" panose="02070309020205020404" pitchFamily="49" charset="0"/>
              </a:rPr>
              <a:t>assetId</a:t>
            </a:r>
            <a:endParaRPr lang="en-IN" sz="1200" dirty="0"/>
          </a:p>
          <a:p>
            <a:pPr marL="742950" lvl="1" indent="-285750">
              <a:buFont typeface="+mj-lt"/>
              <a:buAutoNum type="arabicPeriod"/>
            </a:pPr>
            <a:r>
              <a:rPr lang="en-IN" sz="1200" dirty="0"/>
              <a:t>time-limited </a:t>
            </a:r>
            <a:r>
              <a:rPr lang="en-IN" sz="1200" b="1" dirty="0"/>
              <a:t>SAS upload URL</a:t>
            </a:r>
            <a:r>
              <a:rPr lang="en-IN" sz="1200" dirty="0"/>
              <a:t> for Blob</a:t>
            </a:r>
          </a:p>
          <a:p>
            <a:pPr>
              <a:buFont typeface="+mj-lt"/>
              <a:buAutoNum type="arabicPeriod"/>
            </a:pPr>
            <a:r>
              <a:rPr lang="en-IN" sz="1200" dirty="0"/>
              <a:t>Browser uploads file directly to Blob using SAS (no API bottleneck).</a:t>
            </a:r>
          </a:p>
          <a:p>
            <a:pPr>
              <a:buNone/>
            </a:pPr>
            <a:r>
              <a:rPr lang="en-IN" sz="1200" b="1" dirty="0"/>
              <a:t>Slow path (asynchronous)</a:t>
            </a:r>
            <a:br>
              <a:rPr lang="en-IN" sz="1200" dirty="0"/>
            </a:br>
            <a:r>
              <a:rPr lang="en-IN" sz="1200" dirty="0"/>
              <a:t>4. Blob upload event (or API) enqueues a message: </a:t>
            </a:r>
            <a:r>
              <a:rPr lang="en-IN" sz="1200" dirty="0">
                <a:latin typeface="Courier New" panose="02070309020205020404" pitchFamily="49" charset="0"/>
              </a:rPr>
              <a:t>{</a:t>
            </a:r>
            <a:r>
              <a:rPr lang="en-IN" sz="1200" dirty="0" err="1">
                <a:latin typeface="Courier New" panose="02070309020205020404" pitchFamily="49" charset="0"/>
              </a:rPr>
              <a:t>assetId</a:t>
            </a:r>
            <a:r>
              <a:rPr lang="en-IN" sz="1200" dirty="0">
                <a:latin typeface="Courier New" panose="02070309020205020404" pitchFamily="49" charset="0"/>
              </a:rPr>
              <a:t>, </a:t>
            </a:r>
            <a:r>
              <a:rPr lang="en-IN" sz="1200" dirty="0" err="1">
                <a:latin typeface="Courier New" panose="02070309020205020404" pitchFamily="49" charset="0"/>
              </a:rPr>
              <a:t>blobPath</a:t>
            </a:r>
            <a:r>
              <a:rPr lang="en-IN" sz="1200" dirty="0">
                <a:latin typeface="Courier New" panose="02070309020205020404" pitchFamily="49" charset="0"/>
              </a:rPr>
              <a:t>, </a:t>
            </a:r>
            <a:r>
              <a:rPr lang="en-IN" sz="1200" dirty="0" err="1">
                <a:latin typeface="Courier New" panose="02070309020205020404" pitchFamily="49" charset="0"/>
              </a:rPr>
              <a:t>mediaType</a:t>
            </a:r>
            <a:r>
              <a:rPr lang="en-IN" sz="1200" dirty="0">
                <a:latin typeface="Courier New" panose="02070309020205020404" pitchFamily="49" charset="0"/>
              </a:rPr>
              <a:t>}</a:t>
            </a:r>
            <a:r>
              <a:rPr lang="en-IN" sz="1200" dirty="0"/>
              <a:t>.</a:t>
            </a:r>
            <a:br>
              <a:rPr lang="en-IN" sz="1200" dirty="0"/>
            </a:br>
            <a:r>
              <a:rPr lang="en-IN" sz="1200" dirty="0"/>
              <a:t>5. Functions worker consumes queue: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200" dirty="0"/>
              <a:t>Validate MIME + file signature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200" dirty="0"/>
              <a:t>Generate thumbnail / preview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200" dirty="0"/>
              <a:t>Video transcode variants (planned)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200" dirty="0"/>
              <a:t>Audio waveform extraction (planned)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200" dirty="0"/>
              <a:t>AI tagging + moderation labels (planned)</a:t>
            </a:r>
          </a:p>
          <a:p>
            <a:pPr>
              <a:buFont typeface="+mj-lt"/>
              <a:buAutoNum type="arabicPeriod" startAt="6"/>
            </a:pPr>
            <a:r>
              <a:rPr lang="en-IN" sz="1200" dirty="0"/>
              <a:t>Update Cosmos metadata: </a:t>
            </a:r>
            <a:r>
              <a:rPr lang="en-IN" sz="1200" dirty="0" err="1">
                <a:latin typeface="Courier New" panose="02070309020205020404" pitchFamily="49" charset="0"/>
              </a:rPr>
              <a:t>processingStatus</a:t>
            </a:r>
            <a:r>
              <a:rPr lang="en-IN" sz="1200" dirty="0">
                <a:latin typeface="Courier New" panose="02070309020205020404" pitchFamily="49" charset="0"/>
              </a:rPr>
              <a:t>=READY</a:t>
            </a:r>
            <a:r>
              <a:rPr lang="en-IN" sz="1200" dirty="0"/>
              <a:t>, store derived assets.</a:t>
            </a:r>
          </a:p>
          <a:p>
            <a:pPr>
              <a:buFont typeface="+mj-lt"/>
              <a:buAutoNum type="arabicPeriod" startAt="6"/>
            </a:pPr>
            <a:r>
              <a:rPr lang="en-IN" sz="1200" dirty="0"/>
              <a:t>Feed/search can now surface the content based on privacy + preferences.</a:t>
            </a:r>
          </a:p>
          <a:p>
            <a:pPr>
              <a:buNone/>
            </a:pPr>
            <a:r>
              <a:rPr lang="en-IN" sz="1200" dirty="0"/>
              <a:t>This approach scales because upload requests stay lightweight while processing scales independently.</a:t>
            </a:r>
          </a:p>
          <a:p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20172108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0B80AB5-04E5-2C2D-26E9-EF3A3DA3A4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6096000" cy="6858000"/>
          </a:xfrm>
          <a:prstGeom prst="rect">
            <a:avLst/>
          </a:prstGeom>
          <a:solidFill>
            <a:schemeClr val="bg1">
              <a:lumMod val="95000"/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CA1DE8-2A10-DE10-F6E3-DF58ABF295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1878" y="5014525"/>
            <a:ext cx="4572000" cy="1401183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spcBef>
                <a:spcPct val="0"/>
              </a:spcBef>
            </a:pPr>
            <a:r>
              <a:rPr lang="en-IN" sz="3200" dirty="0"/>
              <a:t>Authentication + session cookies</a:t>
            </a:r>
            <a:endParaRPr lang="en-US" sz="3200" kern="1200" dirty="0">
              <a:latin typeface="+mj-lt"/>
              <a:ea typeface="+mj-ea"/>
              <a:cs typeface="+mj-cs"/>
            </a:endParaRPr>
          </a:p>
        </p:txBody>
      </p:sp>
      <p:pic>
        <p:nvPicPr>
          <p:cNvPr id="7" name="Graphic 6" descr="Laptop Secure">
            <a:extLst>
              <a:ext uri="{FF2B5EF4-FFF2-40B4-BE49-F238E27FC236}">
                <a16:creationId xmlns:a16="http://schemas.microsoft.com/office/drawing/2014/main" id="{2800CF26-44EF-6DC7-0561-9C74DAAB64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10595" y="1010479"/>
            <a:ext cx="3196994" cy="3196994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C23E3B9-5ABF-58B3-E2B0-E9A5DAA900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73656" y="474740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5F166A-E123-643B-10F2-CEC5EE0817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8183" y="352426"/>
            <a:ext cx="5364242" cy="6063282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None/>
            </a:pPr>
            <a:r>
              <a:rPr lang="en-IN" sz="1700" b="1" dirty="0"/>
              <a:t>Auth flow</a:t>
            </a:r>
            <a:endParaRPr lang="en-IN" sz="17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1700" dirty="0">
                <a:latin typeface="Courier New" panose="02070309020205020404" pitchFamily="49" charset="0"/>
              </a:rPr>
              <a:t>POST /</a:t>
            </a:r>
            <a:r>
              <a:rPr lang="en-IN" sz="1700" dirty="0" err="1">
                <a:latin typeface="Courier New" panose="02070309020205020404" pitchFamily="49" charset="0"/>
              </a:rPr>
              <a:t>api</a:t>
            </a:r>
            <a:r>
              <a:rPr lang="en-IN" sz="1700" dirty="0">
                <a:latin typeface="Courier New" panose="02070309020205020404" pitchFamily="49" charset="0"/>
              </a:rPr>
              <a:t>/v1/auth/signup</a:t>
            </a:r>
            <a:endParaRPr lang="en-IN" sz="17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1700" dirty="0">
                <a:latin typeface="Courier New" panose="02070309020205020404" pitchFamily="49" charset="0"/>
              </a:rPr>
              <a:t>POST /</a:t>
            </a:r>
            <a:r>
              <a:rPr lang="en-IN" sz="1700" dirty="0" err="1">
                <a:latin typeface="Courier New" panose="02070309020205020404" pitchFamily="49" charset="0"/>
              </a:rPr>
              <a:t>api</a:t>
            </a:r>
            <a:r>
              <a:rPr lang="en-IN" sz="1700" dirty="0">
                <a:latin typeface="Courier New" panose="02070309020205020404" pitchFamily="49" charset="0"/>
              </a:rPr>
              <a:t>/v1/auth/login</a:t>
            </a:r>
            <a:endParaRPr lang="en-IN" sz="1700" dirty="0"/>
          </a:p>
          <a:p>
            <a:pPr>
              <a:buNone/>
            </a:pPr>
            <a:r>
              <a:rPr lang="en-IN" sz="1700" dirty="0"/>
              <a:t>On login success: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700" dirty="0"/>
              <a:t>API issues a </a:t>
            </a:r>
            <a:r>
              <a:rPr lang="en-IN" sz="1700" b="1" dirty="0"/>
              <a:t>secure session cookie</a:t>
            </a:r>
            <a:r>
              <a:rPr lang="en-IN" sz="17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700" dirty="0" err="1">
                <a:latin typeface="Courier New" panose="02070309020205020404" pitchFamily="49" charset="0"/>
              </a:rPr>
              <a:t>HttpOnly</a:t>
            </a:r>
            <a:r>
              <a:rPr lang="en-IN" sz="1700" dirty="0"/>
              <a:t> (not accessible via JS)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700" dirty="0">
                <a:latin typeface="Courier New" panose="02070309020205020404" pitchFamily="49" charset="0"/>
              </a:rPr>
              <a:t>Secure</a:t>
            </a:r>
            <a:r>
              <a:rPr lang="en-IN" sz="1700" dirty="0"/>
              <a:t> (HTTPS only)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700" dirty="0" err="1">
                <a:latin typeface="Courier New" panose="02070309020205020404" pitchFamily="49" charset="0"/>
              </a:rPr>
              <a:t>SameSite</a:t>
            </a:r>
            <a:r>
              <a:rPr lang="en-IN" sz="1700" dirty="0">
                <a:latin typeface="Courier New" panose="02070309020205020404" pitchFamily="49" charset="0"/>
              </a:rPr>
              <a:t>=Lax/Strict</a:t>
            </a:r>
            <a:r>
              <a:rPr lang="en-IN" sz="1700" dirty="0"/>
              <a:t> (CSRF mitigation)</a:t>
            </a:r>
          </a:p>
          <a:p>
            <a:pPr>
              <a:buNone/>
            </a:pPr>
            <a:r>
              <a:rPr lang="en-IN" sz="1700" dirty="0"/>
              <a:t>Session data stored in SQL: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700" dirty="0">
                <a:latin typeface="Courier New" panose="02070309020205020404" pitchFamily="49" charset="0"/>
              </a:rPr>
              <a:t>Sessions(</a:t>
            </a:r>
            <a:r>
              <a:rPr lang="en-IN" sz="1700" dirty="0" err="1">
                <a:latin typeface="Courier New" panose="02070309020205020404" pitchFamily="49" charset="0"/>
              </a:rPr>
              <a:t>sessionId</a:t>
            </a:r>
            <a:r>
              <a:rPr lang="en-IN" sz="1700" dirty="0">
                <a:latin typeface="Courier New" panose="02070309020205020404" pitchFamily="49" charset="0"/>
              </a:rPr>
              <a:t>, </a:t>
            </a:r>
            <a:r>
              <a:rPr lang="en-IN" sz="1700" dirty="0" err="1">
                <a:latin typeface="Courier New" panose="02070309020205020404" pitchFamily="49" charset="0"/>
              </a:rPr>
              <a:t>userId</a:t>
            </a:r>
            <a:r>
              <a:rPr lang="en-IN" sz="1700" dirty="0">
                <a:latin typeface="Courier New" panose="02070309020205020404" pitchFamily="49" charset="0"/>
              </a:rPr>
              <a:t>, </a:t>
            </a:r>
            <a:r>
              <a:rPr lang="en-IN" sz="1700" dirty="0" err="1">
                <a:latin typeface="Courier New" panose="02070309020205020404" pitchFamily="49" charset="0"/>
              </a:rPr>
              <a:t>createdAt</a:t>
            </a:r>
            <a:r>
              <a:rPr lang="en-IN" sz="1700" dirty="0">
                <a:latin typeface="Courier New" panose="02070309020205020404" pitchFamily="49" charset="0"/>
              </a:rPr>
              <a:t>, </a:t>
            </a:r>
            <a:r>
              <a:rPr lang="en-IN" sz="1700" dirty="0" err="1">
                <a:latin typeface="Courier New" panose="02070309020205020404" pitchFamily="49" charset="0"/>
              </a:rPr>
              <a:t>expiresAt</a:t>
            </a:r>
            <a:r>
              <a:rPr lang="en-IN" sz="1700" dirty="0">
                <a:latin typeface="Courier New" panose="02070309020205020404" pitchFamily="49" charset="0"/>
              </a:rPr>
              <a:t>, </a:t>
            </a:r>
            <a:r>
              <a:rPr lang="en-IN" sz="1700" dirty="0" err="1">
                <a:latin typeface="Courier New" panose="02070309020205020404" pitchFamily="49" charset="0"/>
              </a:rPr>
              <a:t>revokedAt</a:t>
            </a:r>
            <a:r>
              <a:rPr lang="en-IN" sz="1700" dirty="0">
                <a:latin typeface="Courier New" panose="02070309020205020404" pitchFamily="49" charset="0"/>
              </a:rPr>
              <a:t>, </a:t>
            </a:r>
            <a:r>
              <a:rPr lang="en-IN" sz="1700" dirty="0" err="1">
                <a:latin typeface="Courier New" panose="02070309020205020404" pitchFamily="49" charset="0"/>
              </a:rPr>
              <a:t>userAgentHash</a:t>
            </a:r>
            <a:r>
              <a:rPr lang="en-IN" sz="1700" dirty="0">
                <a:latin typeface="Courier New" panose="02070309020205020404" pitchFamily="49" charset="0"/>
              </a:rPr>
              <a:t>, </a:t>
            </a:r>
            <a:r>
              <a:rPr lang="en-IN" sz="1700" dirty="0" err="1">
                <a:latin typeface="Courier New" panose="02070309020205020404" pitchFamily="49" charset="0"/>
              </a:rPr>
              <a:t>ipHash</a:t>
            </a:r>
            <a:r>
              <a:rPr lang="en-IN" sz="1700" dirty="0">
                <a:latin typeface="Courier New" panose="02070309020205020404" pitchFamily="49" charset="0"/>
              </a:rPr>
              <a:t>)</a:t>
            </a:r>
            <a:endParaRPr lang="en-IN" sz="1700" dirty="0"/>
          </a:p>
          <a:p>
            <a:pPr>
              <a:buNone/>
            </a:pPr>
            <a:r>
              <a:rPr lang="en-IN" sz="1700" dirty="0"/>
              <a:t>Requests include cookie automatically.</a:t>
            </a:r>
            <a:br>
              <a:rPr lang="en-IN" sz="1700" dirty="0"/>
            </a:br>
            <a:r>
              <a:rPr lang="en-IN" sz="1700" dirty="0"/>
              <a:t>API gateway + Logic Apps validate session on each request (stateless API servers).</a:t>
            </a:r>
          </a:p>
          <a:p>
            <a:pPr>
              <a:buNone/>
            </a:pPr>
            <a:r>
              <a:rPr lang="en-IN" sz="1700" b="1" dirty="0"/>
              <a:t>Logout</a:t>
            </a:r>
            <a:endParaRPr lang="en-IN" sz="17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1700" dirty="0">
                <a:latin typeface="Courier New" panose="02070309020205020404" pitchFamily="49" charset="0"/>
              </a:rPr>
              <a:t>POST /</a:t>
            </a:r>
            <a:r>
              <a:rPr lang="en-IN" sz="1700" dirty="0" err="1">
                <a:latin typeface="Courier New" panose="02070309020205020404" pitchFamily="49" charset="0"/>
              </a:rPr>
              <a:t>api</a:t>
            </a:r>
            <a:r>
              <a:rPr lang="en-IN" sz="1700" dirty="0">
                <a:latin typeface="Courier New" panose="02070309020205020404" pitchFamily="49" charset="0"/>
              </a:rPr>
              <a:t>/v1/auth/logout</a:t>
            </a:r>
            <a:r>
              <a:rPr lang="en-IN" sz="1700" dirty="0"/>
              <a:t> revokes session record.</a:t>
            </a:r>
          </a:p>
          <a:p>
            <a:pPr marL="0" indent="0">
              <a:buNone/>
            </a:pPr>
            <a:endParaRPr lang="en-US" sz="1700" dirty="0"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730248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02239D2-A05D-4A1C-9F06-FBA7FC730E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AA41759-1A3E-10F6-9EBC-4E8CCD0FFE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9300" y="538956"/>
            <a:ext cx="8985250" cy="1118394"/>
          </a:xfrm>
        </p:spPr>
        <p:txBody>
          <a:bodyPr anchor="t">
            <a:normAutofit/>
          </a:bodyPr>
          <a:lstStyle/>
          <a:p>
            <a:r>
              <a:rPr lang="en-US" sz="3700" dirty="0"/>
              <a:t>Privacy model + enforcement (core differentiator)</a:t>
            </a:r>
            <a:endParaRPr lang="en-IN" sz="3700" dirty="0"/>
          </a:p>
        </p:txBody>
      </p:sp>
      <p:pic>
        <p:nvPicPr>
          <p:cNvPr id="7" name="Graphic 6" descr="Phishing">
            <a:extLst>
              <a:ext uri="{FF2B5EF4-FFF2-40B4-BE49-F238E27FC236}">
                <a16:creationId xmlns:a16="http://schemas.microsoft.com/office/drawing/2014/main" id="{B6EABE07-E07F-E906-59D7-976EBA788F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4900" y="538956"/>
            <a:ext cx="749300" cy="74930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5D26A6-CF8B-06D4-D879-93D9C13D2A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9650" y="1847849"/>
            <a:ext cx="4181475" cy="4254501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1600" dirty="0"/>
              <a:t>Each asset has </a:t>
            </a:r>
            <a:r>
              <a:rPr lang="en-US" sz="1600" dirty="0">
                <a:latin typeface="Courier New" panose="02070309020205020404" pitchFamily="49" charset="0"/>
              </a:rPr>
              <a:t>visibility</a:t>
            </a:r>
            <a:r>
              <a:rPr lang="en-US" sz="1600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Courier New" panose="02070309020205020404" pitchFamily="49" charset="0"/>
              </a:rPr>
              <a:t>PUBLIC</a:t>
            </a: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Courier New" panose="02070309020205020404" pitchFamily="49" charset="0"/>
              </a:rPr>
              <a:t>PRIVATE_SELECTED</a:t>
            </a: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Courier New" panose="02070309020205020404" pitchFamily="49" charset="0"/>
              </a:rPr>
              <a:t>UNLISTED_LINK</a:t>
            </a: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Courier New" panose="02070309020205020404" pitchFamily="49" charset="0"/>
              </a:rPr>
              <a:t>CREATOR_PREMIUM</a:t>
            </a:r>
            <a:endParaRPr lang="en-US" sz="1600" dirty="0"/>
          </a:p>
          <a:p>
            <a:pPr>
              <a:buNone/>
            </a:pPr>
            <a:r>
              <a:rPr lang="en-US" sz="1600" b="1" dirty="0"/>
              <a:t>Private-to-selected implementation</a:t>
            </a: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SQL table </a:t>
            </a:r>
            <a:r>
              <a:rPr lang="en-US" sz="1600" dirty="0" err="1">
                <a:latin typeface="Courier New" panose="02070309020205020404" pitchFamily="49" charset="0"/>
              </a:rPr>
              <a:t>AssetACL</a:t>
            </a:r>
            <a:r>
              <a:rPr lang="en-US" sz="1600" dirty="0">
                <a:latin typeface="Courier New" panose="02070309020205020404" pitchFamily="49" charset="0"/>
              </a:rPr>
              <a:t>(</a:t>
            </a:r>
            <a:r>
              <a:rPr lang="en-US" sz="1600" dirty="0" err="1">
                <a:latin typeface="Courier New" panose="02070309020205020404" pitchFamily="49" charset="0"/>
              </a:rPr>
              <a:t>assetId</a:t>
            </a:r>
            <a:r>
              <a:rPr lang="en-US" sz="1600" dirty="0">
                <a:latin typeface="Courier New" panose="02070309020205020404" pitchFamily="49" charset="0"/>
              </a:rPr>
              <a:t>, </a:t>
            </a:r>
            <a:r>
              <a:rPr lang="en-US" sz="1600" dirty="0" err="1">
                <a:latin typeface="Courier New" panose="02070309020205020404" pitchFamily="49" charset="0"/>
              </a:rPr>
              <a:t>viewerUserId</a:t>
            </a:r>
            <a:r>
              <a:rPr lang="en-US" sz="1600" dirty="0">
                <a:latin typeface="Courier New" panose="02070309020205020404" pitchFamily="49" charset="0"/>
              </a:rPr>
              <a:t>, permission)</a:t>
            </a:r>
            <a:r>
              <a:rPr lang="en-US" sz="1600" dirty="0"/>
              <a:t>.</a:t>
            </a:r>
          </a:p>
          <a:p>
            <a:pPr>
              <a:buNone/>
            </a:pPr>
            <a:r>
              <a:rPr lang="en-US" sz="1600" dirty="0"/>
              <a:t>Request to view private content: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API checks ACL: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owner always allowed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viewer must exist in ACL</a:t>
            </a:r>
          </a:p>
          <a:p>
            <a:pPr marL="0" indent="0">
              <a:buNone/>
            </a:pPr>
            <a:endParaRPr lang="en-IN" sz="16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D911A06-62A8-FF69-FFA1-954DAA9BD728}"/>
              </a:ext>
            </a:extLst>
          </p:cNvPr>
          <p:cNvSpPr txBox="1"/>
          <p:nvPr/>
        </p:nvSpPr>
        <p:spPr>
          <a:xfrm>
            <a:off x="5676900" y="1847849"/>
            <a:ext cx="5876925" cy="35163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 pitchFamily="34"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/>
              </a:rPr>
              <a:t>Unlisted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/>
              </a:rPr>
              <a:t>Not searchable/feed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/>
              </a:rPr>
              <a:t>Accessible via signed share token:</a:t>
            </a:r>
          </a:p>
          <a:p>
            <a:pPr marL="742950" marR="0" lvl="1" indent="-28575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</a:rPr>
              <a:t>POST /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</a:rPr>
              <a:t>api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</a:rPr>
              <a:t>/v1/assets/{id}/share-links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/>
              </a:rPr>
              <a:t> creates token with expiry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 pitchFamily="34"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/>
              </a:rPr>
              <a:t>Creator premium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/>
              </a:rPr>
              <a:t>Viewer must have active subscription entitlement.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 pitchFamily="34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/>
              </a:rPr>
              <a:t>This privacy enforcement is applied both: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/>
              </a:rPr>
              <a:t>when listing feeds/search results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/>
              </a:rPr>
              <a:t>when returning actual media URLs</a:t>
            </a:r>
          </a:p>
          <a:p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13114221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6" name="Rectangle 5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5EF036-F82D-94C9-7F79-AA36532D44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>
              <a:spcBef>
                <a:spcPct val="0"/>
              </a:spcBef>
            </a:pPr>
            <a:r>
              <a:rPr lang="en-IN" sz="4000" dirty="0">
                <a:solidFill>
                  <a:srgbClr val="FFFFFF"/>
                </a:solidFill>
              </a:rPr>
              <a:t>Sensitive content | 18+ gating</a:t>
            </a:r>
            <a:endParaRPr lang="en-US" sz="4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814EC2-1AB7-51BC-BDAB-369AAA0E47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None/>
            </a:pPr>
            <a:r>
              <a:rPr lang="en-IN" sz="1900"/>
              <a:t>Each asset stores: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900">
                <a:latin typeface="Courier New" panose="02070309020205020404" pitchFamily="49" charset="0"/>
              </a:rPr>
              <a:t>isSensitive</a:t>
            </a:r>
            <a:r>
              <a:rPr lang="en-IN" sz="1900"/>
              <a:t> (blur/hide controls)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900">
                <a:latin typeface="Courier New" panose="02070309020205020404" pitchFamily="49" charset="0"/>
              </a:rPr>
              <a:t>isAdult18Plus</a:t>
            </a:r>
            <a:endParaRPr lang="en-IN" sz="1900"/>
          </a:p>
          <a:p>
            <a:pPr>
              <a:buNone/>
            </a:pPr>
            <a:r>
              <a:rPr lang="en-IN" sz="1900"/>
              <a:t>Each user stores preferences: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900">
                <a:latin typeface="Courier New" panose="02070309020205020404" pitchFamily="49" charset="0"/>
              </a:rPr>
              <a:t>sensitiveMode</a:t>
            </a:r>
            <a:r>
              <a:rPr lang="en-IN" sz="1900"/>
              <a:t>: </a:t>
            </a:r>
            <a:r>
              <a:rPr lang="en-IN" sz="1900">
                <a:latin typeface="Courier New" panose="02070309020205020404" pitchFamily="49" charset="0"/>
              </a:rPr>
              <a:t>HIDE | BLUR | SHOW</a:t>
            </a:r>
            <a:endParaRPr lang="en-IN" sz="1900"/>
          </a:p>
          <a:p>
            <a:pPr>
              <a:buFont typeface="Arial" panose="020B0604020202020204" pitchFamily="34" charset="0"/>
              <a:buChar char="•"/>
            </a:pPr>
            <a:r>
              <a:rPr lang="en-IN" sz="1900">
                <a:latin typeface="Courier New" panose="02070309020205020404" pitchFamily="49" charset="0"/>
              </a:rPr>
              <a:t>adultContentEnabled</a:t>
            </a:r>
            <a:r>
              <a:rPr lang="en-IN" sz="1900"/>
              <a:t>: boolean (only if verified)</a:t>
            </a:r>
          </a:p>
          <a:p>
            <a:pPr>
              <a:buNone/>
            </a:pPr>
            <a:r>
              <a:rPr lang="en-IN" sz="1900" b="1"/>
              <a:t>Age verification approach</a:t>
            </a:r>
            <a:endParaRPr lang="en-IN" sz="1900"/>
          </a:p>
          <a:p>
            <a:pPr>
              <a:buFont typeface="Arial" panose="020B0604020202020204" pitchFamily="34" charset="0"/>
              <a:buChar char="•"/>
            </a:pPr>
            <a:r>
              <a:rPr lang="en-IN" sz="1900"/>
              <a:t>MVP: DOB + self-declaration + explicit consent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900"/>
              <a:t>Planned: third-party verification / manual review workflow</a:t>
            </a:r>
          </a:p>
          <a:p>
            <a:pPr>
              <a:buNone/>
            </a:pPr>
            <a:r>
              <a:rPr lang="en-IN" sz="1900"/>
              <a:t>API rules: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900"/>
              <a:t>If asset is </a:t>
            </a:r>
            <a:r>
              <a:rPr lang="en-IN" sz="1900">
                <a:latin typeface="Courier New" panose="02070309020205020404" pitchFamily="49" charset="0"/>
              </a:rPr>
              <a:t>18+</a:t>
            </a:r>
            <a:r>
              <a:rPr lang="en-IN" sz="1900"/>
              <a:t> and user not verified → block or show warning screen.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900"/>
              <a:t>If asset is sensitive → apply user preference (hide/blur/show).</a:t>
            </a:r>
          </a:p>
          <a:p>
            <a:pPr marL="0">
              <a:buFont typeface="Arial" panose="020B0604020202020204" pitchFamily="34" charset="0"/>
              <a:buChar char="•"/>
            </a:pPr>
            <a:endParaRPr lang="en-US" sz="1900"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43110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58256" y="-358254"/>
            <a:ext cx="6858000" cy="7574507"/>
          </a:xfrm>
          <a:prstGeom prst="rect">
            <a:avLst/>
          </a:prstGeom>
          <a:ln>
            <a:noFill/>
          </a:ln>
          <a:effectLst>
            <a:outerShdw blurRad="457200" dist="63500" sx="99000" sy="99000" algn="l" rotWithShape="0">
              <a:prstClr val="black">
                <a:alpha val="1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C89A18-2D76-D7CC-617B-59D7B2B992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845" y="5546162"/>
            <a:ext cx="6661702" cy="95361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ct val="0"/>
              </a:spcBef>
            </a:pPr>
            <a:r>
              <a:rPr lang="en-US" sz="31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Wireframe content 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141D38CB-F278-A23F-0CD8-243CA6B523AC}"/>
              </a:ext>
            </a:extLst>
          </p:cNvPr>
          <p:cNvPicPr>
            <a:picLocks noGrp="1" noChangeAspect="1"/>
          </p:cNvPicPr>
          <p:nvPr>
            <p:ph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047" b="1"/>
          <a:stretch>
            <a:fillRect/>
          </a:stretch>
        </p:blipFill>
        <p:spPr>
          <a:xfrm>
            <a:off x="20" y="-1"/>
            <a:ext cx="7574488" cy="5457826"/>
          </a:xfrm>
          <a:prstGeom prst="rect">
            <a:avLst/>
          </a:prstGeom>
          <a:noFill/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D21C93-D6C2-6798-2BCA-98B530D939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74508" y="0"/>
            <a:ext cx="4617472" cy="685799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 feed</a:t>
            </a:r>
            <a:endParaRPr lang="en-US" sz="14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Infinite scroll cards:</a:t>
            </a:r>
          </a:p>
          <a:p>
            <a:pPr marL="742950" lvl="1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media preview</a:t>
            </a:r>
          </a:p>
          <a:p>
            <a:pPr marL="742950" lvl="1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caption + tags</a:t>
            </a:r>
          </a:p>
          <a:p>
            <a:pPr marL="742950" lvl="1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like/comment/share</a:t>
            </a:r>
          </a:p>
          <a:p>
            <a:pPr marL="742950" lvl="1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badges: sensitive / 18+ / premium</a:t>
            </a:r>
          </a:p>
          <a:p>
            <a:pPr marL="228600" marR="0" lvl="0" fontAlgn="auto"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Upload page fields:</a:t>
            </a:r>
          </a:p>
          <a:p>
            <a:pPr marL="228600" marR="0" lvl="0" fontAlgn="auto"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file upload + validation message</a:t>
            </a:r>
          </a:p>
          <a:p>
            <a:pPr marL="228600" marR="0" lvl="0" fontAlgn="auto"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caption</a:t>
            </a:r>
          </a:p>
          <a:p>
            <a:pPr marL="228600" marR="0" lvl="0" fontAlgn="auto"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hashtags</a:t>
            </a:r>
          </a:p>
          <a:p>
            <a:pPr marL="228600" marR="0" lvl="0" fontAlgn="auto"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tag users (@mentions)</a:t>
            </a:r>
          </a:p>
          <a:p>
            <a:pPr marL="228600" marR="0" lvl="0" fontAlgn="auto"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tag location (autocomplete)</a:t>
            </a:r>
          </a:p>
          <a:p>
            <a:pPr marL="228600" marR="0" lvl="0" fontAlgn="auto"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privacy selector:</a:t>
            </a:r>
          </a:p>
          <a:p>
            <a:pPr marL="742950" marR="0" lvl="1" fontAlgn="auto">
              <a:spcBef>
                <a:spcPts val="5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public / private-to-selected / unlisted / creator-premium</a:t>
            </a:r>
          </a:p>
          <a:p>
            <a:pPr marL="228600" marR="0" lvl="0" fontAlgn="auto"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sensitive toggle</a:t>
            </a:r>
          </a:p>
          <a:p>
            <a:pPr marL="228600" marR="0" lvl="0" fontAlgn="auto"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18+ toggle</a:t>
            </a:r>
          </a:p>
          <a:p>
            <a:pPr marL="228600" marR="0" lvl="0" fontAlgn="auto"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allow comments on/off</a:t>
            </a:r>
          </a:p>
          <a:p>
            <a:pPr marL="228600" marR="0" lvl="0" fontAlgn="auto"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upload button</a:t>
            </a:r>
          </a:p>
          <a:p>
            <a:pPr marL="228600" marR="0" lvl="0" fontAlgn="auto"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Two-step upload note:</a:t>
            </a:r>
          </a:p>
          <a:p>
            <a:pPr marL="228600" marR="0" lvl="0" fontAlgn="auto"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“Create record → SAS URL → direct blob upload → async processing”</a:t>
            </a:r>
          </a:p>
          <a:p>
            <a:pPr marL="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068188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6FE9B-1AF1-D72B-2F30-62A2730E5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3" y="365130"/>
            <a:ext cx="4524372" cy="539745"/>
          </a:xfrm>
        </p:spPr>
        <p:txBody>
          <a:bodyPr anchor="b">
            <a:normAutofit/>
          </a:bodyPr>
          <a:lstStyle/>
          <a:p>
            <a:r>
              <a:rPr lang="en-IN" sz="2800" dirty="0"/>
              <a:t>Data model (SQL + Cosmos)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F0233E-5AB5-4580-502B-D96473972C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3" y="1076325"/>
            <a:ext cx="5181603" cy="5562600"/>
          </a:xfrm>
        </p:spPr>
        <p:txBody>
          <a:bodyPr anchor="ctr">
            <a:normAutofit fontScale="47500" lnSpcReduction="20000"/>
          </a:bodyPr>
          <a:lstStyle/>
          <a:p>
            <a:pPr algn="ctr">
              <a:buNone/>
            </a:pPr>
            <a:r>
              <a:rPr lang="en-IN" sz="3400" b="1" i="1" dirty="0"/>
              <a:t>SQL tables (ERD</a:t>
            </a:r>
            <a:r>
              <a:rPr lang="en-IN" b="1" dirty="0"/>
              <a:t>)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Users(</a:t>
            </a:r>
            <a:r>
              <a:rPr lang="en-IN" dirty="0" err="1"/>
              <a:t>UserId</a:t>
            </a:r>
            <a:r>
              <a:rPr lang="en-IN" dirty="0"/>
              <a:t>, Email, </a:t>
            </a:r>
            <a:r>
              <a:rPr lang="en-IN" dirty="0" err="1"/>
              <a:t>PasswordHash</a:t>
            </a:r>
            <a:r>
              <a:rPr lang="en-IN" dirty="0"/>
              <a:t>/</a:t>
            </a:r>
            <a:r>
              <a:rPr lang="en-IN" dirty="0" err="1"/>
              <a:t>ExternalId</a:t>
            </a:r>
            <a:r>
              <a:rPr lang="en-IN" dirty="0"/>
              <a:t>, DOB, Is18Verified, </a:t>
            </a:r>
            <a:r>
              <a:rPr lang="en-IN" dirty="0" err="1"/>
              <a:t>CreatedAt</a:t>
            </a:r>
            <a:r>
              <a:rPr lang="en-IN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Sessions(</a:t>
            </a:r>
            <a:r>
              <a:rPr lang="en-IN" dirty="0" err="1"/>
              <a:t>SessionId</a:t>
            </a:r>
            <a:r>
              <a:rPr lang="en-IN" dirty="0"/>
              <a:t>, </a:t>
            </a:r>
            <a:r>
              <a:rPr lang="en-IN" dirty="0" err="1"/>
              <a:t>UserId</a:t>
            </a:r>
            <a:r>
              <a:rPr lang="en-IN" dirty="0"/>
              <a:t>, </a:t>
            </a:r>
            <a:r>
              <a:rPr lang="en-IN" dirty="0" err="1"/>
              <a:t>ExpiresAt</a:t>
            </a:r>
            <a:r>
              <a:rPr lang="en-IN" dirty="0"/>
              <a:t>, </a:t>
            </a:r>
            <a:r>
              <a:rPr lang="en-IN" dirty="0" err="1"/>
              <a:t>RevokedAt</a:t>
            </a:r>
            <a:r>
              <a:rPr lang="en-IN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 err="1"/>
              <a:t>AssetsCore</a:t>
            </a:r>
            <a:r>
              <a:rPr lang="en-IN" dirty="0"/>
              <a:t>(</a:t>
            </a:r>
            <a:r>
              <a:rPr lang="en-IN" dirty="0" err="1"/>
              <a:t>AssetId</a:t>
            </a:r>
            <a:r>
              <a:rPr lang="en-IN" dirty="0"/>
              <a:t>, </a:t>
            </a:r>
            <a:r>
              <a:rPr lang="en-IN" dirty="0" err="1"/>
              <a:t>OwnerId</a:t>
            </a:r>
            <a:r>
              <a:rPr lang="en-IN" dirty="0"/>
              <a:t>, Visibility, </a:t>
            </a:r>
            <a:r>
              <a:rPr lang="en-IN" dirty="0" err="1"/>
              <a:t>IsSensitive</a:t>
            </a:r>
            <a:r>
              <a:rPr lang="en-IN" dirty="0"/>
              <a:t>, IsAdult18Plus, </a:t>
            </a:r>
            <a:r>
              <a:rPr lang="en-IN" dirty="0" err="1"/>
              <a:t>CreatedAt</a:t>
            </a:r>
            <a:r>
              <a:rPr lang="en-IN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 err="1"/>
              <a:t>AssetACL</a:t>
            </a:r>
            <a:r>
              <a:rPr lang="en-IN" dirty="0"/>
              <a:t>(</a:t>
            </a:r>
            <a:r>
              <a:rPr lang="en-IN" dirty="0" err="1"/>
              <a:t>AssetId</a:t>
            </a:r>
            <a:r>
              <a:rPr lang="en-IN" dirty="0"/>
              <a:t>, </a:t>
            </a:r>
            <a:r>
              <a:rPr lang="en-IN" dirty="0" err="1"/>
              <a:t>ViewerUserId</a:t>
            </a:r>
            <a:r>
              <a:rPr lang="en-IN" dirty="0"/>
              <a:t>, Permission)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Subscriptions(</a:t>
            </a:r>
            <a:r>
              <a:rPr lang="en-IN" dirty="0" err="1"/>
              <a:t>SubscriptionId</a:t>
            </a:r>
            <a:r>
              <a:rPr lang="en-IN" dirty="0"/>
              <a:t>, </a:t>
            </a:r>
            <a:r>
              <a:rPr lang="en-IN" dirty="0" err="1"/>
              <a:t>SubscriberId</a:t>
            </a:r>
            <a:r>
              <a:rPr lang="en-IN" dirty="0"/>
              <a:t>, </a:t>
            </a:r>
            <a:r>
              <a:rPr lang="en-IN" dirty="0" err="1"/>
              <a:t>CreatorId</a:t>
            </a:r>
            <a:r>
              <a:rPr lang="en-IN" dirty="0"/>
              <a:t>, Status, </a:t>
            </a:r>
            <a:r>
              <a:rPr lang="en-IN" dirty="0" err="1"/>
              <a:t>StartAt</a:t>
            </a:r>
            <a:r>
              <a:rPr lang="en-IN" dirty="0"/>
              <a:t>, </a:t>
            </a:r>
            <a:r>
              <a:rPr lang="en-IN" dirty="0" err="1"/>
              <a:t>RenewAt</a:t>
            </a:r>
            <a:r>
              <a:rPr lang="en-IN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Payments(</a:t>
            </a:r>
            <a:r>
              <a:rPr lang="en-IN" dirty="0" err="1"/>
              <a:t>PaymentId</a:t>
            </a:r>
            <a:r>
              <a:rPr lang="en-IN" dirty="0"/>
              <a:t>, </a:t>
            </a:r>
            <a:r>
              <a:rPr lang="en-IN" dirty="0" err="1"/>
              <a:t>UserId</a:t>
            </a:r>
            <a:r>
              <a:rPr lang="en-IN" dirty="0"/>
              <a:t>, Amount, Reason, Timestamp)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 err="1"/>
              <a:t>PayoutLedger</a:t>
            </a:r>
            <a:r>
              <a:rPr lang="en-IN" dirty="0"/>
              <a:t>(</a:t>
            </a:r>
            <a:r>
              <a:rPr lang="en-IN" dirty="0" err="1"/>
              <a:t>PayoutId</a:t>
            </a:r>
            <a:r>
              <a:rPr lang="en-IN" dirty="0"/>
              <a:t>, </a:t>
            </a:r>
            <a:r>
              <a:rPr lang="en-IN" dirty="0" err="1"/>
              <a:t>CreatorId</a:t>
            </a:r>
            <a:r>
              <a:rPr lang="en-IN" dirty="0"/>
              <a:t>, Amount, </a:t>
            </a:r>
            <a:r>
              <a:rPr lang="en-IN" dirty="0" err="1"/>
              <a:t>RuleId</a:t>
            </a:r>
            <a:r>
              <a:rPr lang="en-IN" dirty="0"/>
              <a:t>, Timestamp, Status)</a:t>
            </a:r>
          </a:p>
          <a:p>
            <a:pPr>
              <a:buNone/>
            </a:pPr>
            <a:r>
              <a:rPr lang="en-IN" b="1" dirty="0"/>
              <a:t>Cosmos documents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 err="1"/>
              <a:t>AssetFeedDoc</a:t>
            </a:r>
            <a:r>
              <a:rPr lang="en-IN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 err="1"/>
              <a:t>assetId</a:t>
            </a:r>
            <a:r>
              <a:rPr lang="en-IN" dirty="0"/>
              <a:t>, </a:t>
            </a:r>
            <a:r>
              <a:rPr lang="en-IN" dirty="0" err="1"/>
              <a:t>ownerId</a:t>
            </a:r>
            <a:r>
              <a:rPr lang="en-IN" dirty="0"/>
              <a:t>, </a:t>
            </a:r>
            <a:r>
              <a:rPr lang="en-IN" dirty="0" err="1"/>
              <a:t>createdAt</a:t>
            </a:r>
            <a:endParaRPr lang="en-I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 err="1"/>
              <a:t>mediaType</a:t>
            </a:r>
            <a:r>
              <a:rPr lang="en-IN" dirty="0"/>
              <a:t>, </a:t>
            </a:r>
            <a:r>
              <a:rPr lang="en-IN" dirty="0" err="1"/>
              <a:t>mimeType</a:t>
            </a:r>
            <a:r>
              <a:rPr lang="en-IN" dirty="0"/>
              <a:t>, </a:t>
            </a:r>
            <a:r>
              <a:rPr lang="en-IN" dirty="0" err="1"/>
              <a:t>blobPublicUrl</a:t>
            </a:r>
            <a:r>
              <a:rPr lang="en-IN" dirty="0"/>
              <a:t> OR </a:t>
            </a:r>
            <a:r>
              <a:rPr lang="en-IN" dirty="0" err="1"/>
              <a:t>signedUrlRef</a:t>
            </a:r>
            <a:endParaRPr lang="en-I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caption, hashtags, </a:t>
            </a:r>
            <a:r>
              <a:rPr lang="en-IN" dirty="0" err="1"/>
              <a:t>taggedUsers</a:t>
            </a:r>
            <a:r>
              <a:rPr lang="en-IN" dirty="0"/>
              <a:t>, location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 err="1"/>
              <a:t>likeCount</a:t>
            </a:r>
            <a:r>
              <a:rPr lang="en-IN" dirty="0"/>
              <a:t>, </a:t>
            </a:r>
            <a:r>
              <a:rPr lang="en-IN" dirty="0" err="1"/>
              <a:t>commentCount</a:t>
            </a:r>
            <a:endParaRPr lang="en-I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 err="1"/>
              <a:t>aiTags</a:t>
            </a:r>
            <a:r>
              <a:rPr lang="en-IN" dirty="0"/>
              <a:t>, </a:t>
            </a:r>
            <a:r>
              <a:rPr lang="en-IN" dirty="0" err="1"/>
              <a:t>moderationLabels</a:t>
            </a:r>
            <a:r>
              <a:rPr lang="en-IN" dirty="0"/>
              <a:t>, </a:t>
            </a:r>
            <a:r>
              <a:rPr lang="en-IN" dirty="0" err="1"/>
              <a:t>embeddingRef</a:t>
            </a:r>
            <a:endParaRPr lang="en-I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 err="1"/>
              <a:t>processingStatus</a:t>
            </a:r>
            <a:endParaRPr lang="en-IN" dirty="0"/>
          </a:p>
          <a:p>
            <a:pPr>
              <a:buNone/>
            </a:pPr>
            <a:r>
              <a:rPr lang="en-IN" dirty="0"/>
              <a:t>Why this split: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SQL = correctness/permissions/entitlements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Cosmos = fast feed reads + flexible metadata + denormalized counts</a:t>
            </a:r>
          </a:p>
          <a:p>
            <a:pPr>
              <a:buNone/>
            </a:pPr>
            <a:endParaRPr lang="en-IN" sz="160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3A67A20-9999-7999-5690-E992AB8D9C92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172200" y="365130"/>
            <a:ext cx="5181603" cy="6273795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IN" sz="1600" b="1" u="sng" dirty="0" err="1"/>
              <a:t>CosmosDB</a:t>
            </a:r>
            <a:r>
              <a:rPr lang="en-IN" sz="1600" b="1" u="sng" dirty="0"/>
              <a:t> NoSQL Model</a:t>
            </a:r>
          </a:p>
          <a:p>
            <a:pPr marL="0" indent="0">
              <a:buNone/>
            </a:pPr>
            <a:endParaRPr lang="en-IN" sz="1200" dirty="0"/>
          </a:p>
          <a:p>
            <a:pPr marL="0" indent="0">
              <a:buNone/>
            </a:pPr>
            <a:r>
              <a:rPr lang="en-IN" sz="1200" dirty="0"/>
              <a:t>{</a:t>
            </a:r>
            <a:br>
              <a:rPr lang="en-IN" sz="1200" dirty="0"/>
            </a:br>
            <a:r>
              <a:rPr lang="en-IN" sz="1200" dirty="0"/>
              <a:t>"</a:t>
            </a:r>
            <a:r>
              <a:rPr lang="en-IN" sz="1200" dirty="0" err="1"/>
              <a:t>assetId</a:t>
            </a:r>
            <a:r>
              <a:rPr lang="en-IN" sz="1200" dirty="0"/>
              <a:t>": "a_123",</a:t>
            </a:r>
            <a:br>
              <a:rPr lang="en-IN" sz="1200" dirty="0"/>
            </a:br>
            <a:r>
              <a:rPr lang="en-IN" sz="1200" dirty="0"/>
              <a:t>"</a:t>
            </a:r>
            <a:r>
              <a:rPr lang="en-IN" sz="1200" dirty="0" err="1"/>
              <a:t>ownerId</a:t>
            </a:r>
            <a:r>
              <a:rPr lang="en-IN" sz="1200" dirty="0"/>
              <a:t>": "u_001",</a:t>
            </a:r>
            <a:br>
              <a:rPr lang="en-IN" sz="1200" dirty="0"/>
            </a:br>
            <a:r>
              <a:rPr lang="en-IN" sz="1200" dirty="0"/>
              <a:t>"</a:t>
            </a:r>
            <a:r>
              <a:rPr lang="en-IN" sz="1200" dirty="0" err="1"/>
              <a:t>createdAt</a:t>
            </a:r>
            <a:r>
              <a:rPr lang="en-IN" sz="1200" dirty="0"/>
              <a:t>": "2026-03-06T10:20:00Z",</a:t>
            </a:r>
            <a:br>
              <a:rPr lang="en-IN" sz="1200" dirty="0"/>
            </a:br>
            <a:r>
              <a:rPr lang="en-IN" sz="1200" dirty="0"/>
              <a:t>"</a:t>
            </a:r>
            <a:r>
              <a:rPr lang="en-IN" sz="1200" dirty="0" err="1"/>
              <a:t>mediaType</a:t>
            </a:r>
            <a:r>
              <a:rPr lang="en-IN" sz="1200" dirty="0"/>
              <a:t>": "video",</a:t>
            </a:r>
            <a:br>
              <a:rPr lang="en-IN" sz="1200" dirty="0"/>
            </a:br>
            <a:r>
              <a:rPr lang="en-IN" sz="1200" dirty="0"/>
              <a:t>"</a:t>
            </a:r>
            <a:r>
              <a:rPr lang="en-IN" sz="1200" dirty="0" err="1"/>
              <a:t>mimeType</a:t>
            </a:r>
            <a:r>
              <a:rPr lang="en-IN" sz="1200" dirty="0"/>
              <a:t>": "video/mp4",</a:t>
            </a:r>
            <a:br>
              <a:rPr lang="en-IN" sz="1200" dirty="0"/>
            </a:br>
            <a:r>
              <a:rPr lang="en-IN" sz="1200" dirty="0"/>
              <a:t>"</a:t>
            </a:r>
            <a:r>
              <a:rPr lang="en-IN" sz="1200" dirty="0" err="1"/>
              <a:t>blobPath</a:t>
            </a:r>
            <a:r>
              <a:rPr lang="en-IN" sz="1200" dirty="0"/>
              <a:t>": "assets/u_001/a_123/original.mp4",</a:t>
            </a:r>
            <a:br>
              <a:rPr lang="en-IN" sz="1200" dirty="0"/>
            </a:br>
            <a:r>
              <a:rPr lang="en-IN" sz="1200" dirty="0"/>
              <a:t>"derived": {</a:t>
            </a:r>
            <a:br>
              <a:rPr lang="en-IN" sz="1200" dirty="0"/>
            </a:br>
            <a:r>
              <a:rPr lang="en-IN" sz="1200" dirty="0"/>
              <a:t>"</a:t>
            </a:r>
            <a:r>
              <a:rPr lang="en-IN" sz="1200" dirty="0" err="1"/>
              <a:t>thumbnailPath</a:t>
            </a:r>
            <a:r>
              <a:rPr lang="en-IN" sz="1200" dirty="0"/>
              <a:t>": "assets/u_001/a_123/thumb.jpg",</a:t>
            </a:r>
            <a:br>
              <a:rPr lang="en-IN" sz="1200" dirty="0"/>
            </a:br>
            <a:r>
              <a:rPr lang="en-IN" sz="1200" dirty="0"/>
              <a:t>"</a:t>
            </a:r>
            <a:r>
              <a:rPr lang="en-IN" sz="1200" dirty="0" err="1"/>
              <a:t>previewPath</a:t>
            </a:r>
            <a:r>
              <a:rPr lang="en-IN" sz="1200" dirty="0"/>
              <a:t>": "assets/u_001/a_123/preview.mp4"</a:t>
            </a:r>
            <a:br>
              <a:rPr lang="en-IN" sz="1200" dirty="0"/>
            </a:br>
            <a:r>
              <a:rPr lang="en-IN" sz="1200" dirty="0"/>
              <a:t>},</a:t>
            </a:r>
            <a:br>
              <a:rPr lang="en-IN" sz="1200" dirty="0"/>
            </a:br>
            <a:br>
              <a:rPr lang="en-IN" sz="1200" dirty="0"/>
            </a:br>
            <a:r>
              <a:rPr lang="en-IN" sz="1200" dirty="0"/>
              <a:t>"caption": "Weekend vlog",</a:t>
            </a:r>
            <a:br>
              <a:rPr lang="en-IN" sz="1200" dirty="0"/>
            </a:br>
            <a:r>
              <a:rPr lang="en-IN" sz="1200" dirty="0"/>
              <a:t>"hashtags": ["#</a:t>
            </a:r>
            <a:r>
              <a:rPr lang="en-IN" sz="1200" dirty="0" err="1"/>
              <a:t>london</a:t>
            </a:r>
            <a:r>
              <a:rPr lang="en-IN" sz="1200" dirty="0"/>
              <a:t>", "#food"],</a:t>
            </a:r>
            <a:br>
              <a:rPr lang="en-IN" sz="1200" dirty="0"/>
            </a:br>
            <a:r>
              <a:rPr lang="en-IN" sz="1200" dirty="0"/>
              <a:t>"</a:t>
            </a:r>
            <a:r>
              <a:rPr lang="en-IN" sz="1200" dirty="0" err="1"/>
              <a:t>taggedUsers</a:t>
            </a:r>
            <a:r>
              <a:rPr lang="en-IN" sz="1200" dirty="0"/>
              <a:t>": ["u_021", "u_099"],</a:t>
            </a:r>
            <a:br>
              <a:rPr lang="en-IN" sz="1200" dirty="0"/>
            </a:br>
            <a:r>
              <a:rPr lang="en-IN" sz="1200" dirty="0"/>
              <a:t>"location": { "name": "Harrow", "</a:t>
            </a:r>
            <a:r>
              <a:rPr lang="en-IN" sz="1200" dirty="0" err="1"/>
              <a:t>lat</a:t>
            </a:r>
            <a:r>
              <a:rPr lang="en-IN" sz="1200" dirty="0"/>
              <a:t>": 51.58, "</a:t>
            </a:r>
            <a:r>
              <a:rPr lang="en-IN" sz="1200" dirty="0" err="1"/>
              <a:t>lon</a:t>
            </a:r>
            <a:r>
              <a:rPr lang="en-IN" sz="1200" dirty="0"/>
              <a:t>": -0.33 },</a:t>
            </a:r>
            <a:br>
              <a:rPr lang="en-IN" sz="1200" dirty="0"/>
            </a:br>
            <a:br>
              <a:rPr lang="en-IN" sz="1200" dirty="0"/>
            </a:br>
            <a:r>
              <a:rPr lang="en-IN" sz="1200" dirty="0"/>
              <a:t>"visibility": "PRIVATE_SELECTED",</a:t>
            </a:r>
            <a:br>
              <a:rPr lang="en-IN" sz="1200" dirty="0"/>
            </a:br>
            <a:r>
              <a:rPr lang="en-IN" sz="1200" dirty="0"/>
              <a:t>"</a:t>
            </a:r>
            <a:r>
              <a:rPr lang="en-IN" sz="1200" dirty="0" err="1"/>
              <a:t>isSensitive</a:t>
            </a:r>
            <a:r>
              <a:rPr lang="en-IN" sz="1200" dirty="0"/>
              <a:t>": false,</a:t>
            </a:r>
            <a:br>
              <a:rPr lang="en-IN" sz="1200" dirty="0"/>
            </a:br>
            <a:r>
              <a:rPr lang="en-IN" sz="1200" dirty="0"/>
              <a:t>"isAdult18Plus": false,</a:t>
            </a:r>
            <a:br>
              <a:rPr lang="en-IN" sz="1200" dirty="0"/>
            </a:br>
            <a:br>
              <a:rPr lang="en-IN" sz="1200" dirty="0"/>
            </a:br>
            <a:r>
              <a:rPr lang="en-IN" sz="1200" dirty="0"/>
              <a:t>"engagement": { "</a:t>
            </a:r>
            <a:r>
              <a:rPr lang="en-IN" sz="1200" dirty="0" err="1"/>
              <a:t>likeCount</a:t>
            </a:r>
            <a:r>
              <a:rPr lang="en-IN" sz="1200" dirty="0"/>
              <a:t>": 125, "</a:t>
            </a:r>
            <a:r>
              <a:rPr lang="en-IN" sz="1200" dirty="0" err="1"/>
              <a:t>commentCount</a:t>
            </a:r>
            <a:r>
              <a:rPr lang="en-IN" sz="1200" dirty="0"/>
              <a:t>": 18 },</a:t>
            </a:r>
            <a:br>
              <a:rPr lang="en-IN" sz="1200" dirty="0"/>
            </a:br>
            <a:br>
              <a:rPr lang="en-IN" sz="1200" dirty="0"/>
            </a:br>
            <a:r>
              <a:rPr lang="en-IN" sz="1200" dirty="0"/>
              <a:t>"ai": {</a:t>
            </a:r>
            <a:br>
              <a:rPr lang="en-IN" sz="1200" dirty="0"/>
            </a:br>
            <a:r>
              <a:rPr lang="en-IN" sz="1200" dirty="0"/>
              <a:t>"tags": ["street", "restaurant"],</a:t>
            </a:r>
            <a:br>
              <a:rPr lang="en-IN" sz="1200" dirty="0"/>
            </a:br>
            <a:r>
              <a:rPr lang="en-IN" sz="1200" dirty="0"/>
              <a:t>"</a:t>
            </a:r>
            <a:r>
              <a:rPr lang="en-IN" sz="1200" dirty="0" err="1"/>
              <a:t>moderationLabels</a:t>
            </a:r>
            <a:r>
              <a:rPr lang="en-IN" sz="1200" dirty="0"/>
              <a:t>": ["safe"],</a:t>
            </a:r>
            <a:br>
              <a:rPr lang="en-IN" sz="1200" dirty="0"/>
            </a:br>
            <a:r>
              <a:rPr lang="en-IN" sz="1200" dirty="0"/>
              <a:t>"</a:t>
            </a:r>
            <a:r>
              <a:rPr lang="en-IN" sz="1200" dirty="0" err="1"/>
              <a:t>embeddingRef</a:t>
            </a:r>
            <a:r>
              <a:rPr lang="en-IN" sz="1200" dirty="0"/>
              <a:t>": "vec_a_123"</a:t>
            </a:r>
            <a:br>
              <a:rPr lang="en-IN" sz="1200" dirty="0"/>
            </a:br>
            <a:r>
              <a:rPr lang="en-IN" sz="1200" dirty="0"/>
              <a:t>},</a:t>
            </a:r>
            <a:br>
              <a:rPr lang="en-IN" sz="1200" dirty="0"/>
            </a:br>
            <a:br>
              <a:rPr lang="en-IN" sz="1200" dirty="0"/>
            </a:br>
            <a:r>
              <a:rPr lang="en-IN" sz="1200" dirty="0"/>
              <a:t>"</a:t>
            </a:r>
            <a:r>
              <a:rPr lang="en-IN" sz="1200" dirty="0" err="1"/>
              <a:t>processingStatus</a:t>
            </a:r>
            <a:r>
              <a:rPr lang="en-IN" sz="1200" dirty="0"/>
              <a:t>": "READY"</a:t>
            </a:r>
            <a:br>
              <a:rPr lang="en-IN" sz="1200" dirty="0"/>
            </a:br>
            <a:r>
              <a:rPr lang="en-IN" sz="12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4752849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173F98-8660-6AA9-CCE2-1F46E2745B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3" y="365129"/>
            <a:ext cx="3238497" cy="682621"/>
          </a:xfrm>
        </p:spPr>
        <p:txBody>
          <a:bodyPr>
            <a:normAutofit/>
          </a:bodyPr>
          <a:lstStyle/>
          <a:p>
            <a:r>
              <a:rPr lang="en-US" sz="3000" dirty="0"/>
              <a:t>REST API design</a:t>
            </a:r>
            <a:endParaRPr lang="en-IN" sz="3000" dirty="0"/>
          </a:p>
        </p:txBody>
      </p: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1F652424-D8E3-288F-9CEC-1DDCB9880D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3" y="1047750"/>
            <a:ext cx="5181603" cy="554355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IN" sz="1100" b="1" dirty="0"/>
              <a:t>Auth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100" dirty="0">
                <a:latin typeface="Courier New" panose="02070309020205020404" pitchFamily="49" charset="0"/>
              </a:rPr>
              <a:t>POST /</a:t>
            </a:r>
            <a:r>
              <a:rPr lang="en-IN" sz="1100" dirty="0" err="1">
                <a:latin typeface="Courier New" panose="02070309020205020404" pitchFamily="49" charset="0"/>
              </a:rPr>
              <a:t>api</a:t>
            </a:r>
            <a:r>
              <a:rPr lang="en-IN" sz="1100" dirty="0">
                <a:latin typeface="Courier New" panose="02070309020205020404" pitchFamily="49" charset="0"/>
              </a:rPr>
              <a:t>/v1/auth/signup</a:t>
            </a:r>
            <a:endParaRPr lang="en-IN" sz="11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1100" dirty="0">
                <a:latin typeface="Courier New" panose="02070309020205020404" pitchFamily="49" charset="0"/>
              </a:rPr>
              <a:t>POST /</a:t>
            </a:r>
            <a:r>
              <a:rPr lang="en-IN" sz="1100" dirty="0" err="1">
                <a:latin typeface="Courier New" panose="02070309020205020404" pitchFamily="49" charset="0"/>
              </a:rPr>
              <a:t>api</a:t>
            </a:r>
            <a:r>
              <a:rPr lang="en-IN" sz="1100" dirty="0">
                <a:latin typeface="Courier New" panose="02070309020205020404" pitchFamily="49" charset="0"/>
              </a:rPr>
              <a:t>/v1/auth/login</a:t>
            </a:r>
            <a:endParaRPr lang="en-IN" sz="11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1100" dirty="0">
                <a:latin typeface="Courier New" panose="02070309020205020404" pitchFamily="49" charset="0"/>
              </a:rPr>
              <a:t>POST /</a:t>
            </a:r>
            <a:r>
              <a:rPr lang="en-IN" sz="1100" dirty="0" err="1">
                <a:latin typeface="Courier New" panose="02070309020205020404" pitchFamily="49" charset="0"/>
              </a:rPr>
              <a:t>api</a:t>
            </a:r>
            <a:r>
              <a:rPr lang="en-IN" sz="1100" dirty="0">
                <a:latin typeface="Courier New" panose="02070309020205020404" pitchFamily="49" charset="0"/>
              </a:rPr>
              <a:t>/v1/auth/logout</a:t>
            </a:r>
            <a:endParaRPr lang="en-IN" sz="11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1100" dirty="0">
                <a:latin typeface="Courier New" panose="02070309020205020404" pitchFamily="49" charset="0"/>
              </a:rPr>
              <a:t>GET /</a:t>
            </a:r>
            <a:r>
              <a:rPr lang="en-IN" sz="1100" dirty="0" err="1">
                <a:latin typeface="Courier New" panose="02070309020205020404" pitchFamily="49" charset="0"/>
              </a:rPr>
              <a:t>api</a:t>
            </a:r>
            <a:r>
              <a:rPr lang="en-IN" sz="1100" dirty="0">
                <a:latin typeface="Courier New" panose="02070309020205020404" pitchFamily="49" charset="0"/>
              </a:rPr>
              <a:t>/v1/auth/me</a:t>
            </a:r>
            <a:endParaRPr lang="en-IN" sz="1100" dirty="0"/>
          </a:p>
          <a:p>
            <a:pPr>
              <a:buNone/>
            </a:pPr>
            <a:r>
              <a:rPr lang="en-IN" sz="1100" b="1" dirty="0"/>
              <a:t>Users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100" dirty="0">
                <a:latin typeface="Courier New" panose="02070309020205020404" pitchFamily="49" charset="0"/>
              </a:rPr>
              <a:t>GET /</a:t>
            </a:r>
            <a:r>
              <a:rPr lang="en-IN" sz="1100" dirty="0" err="1">
                <a:latin typeface="Courier New" panose="02070309020205020404" pitchFamily="49" charset="0"/>
              </a:rPr>
              <a:t>api</a:t>
            </a:r>
            <a:r>
              <a:rPr lang="en-IN" sz="1100" dirty="0">
                <a:latin typeface="Courier New" panose="02070309020205020404" pitchFamily="49" charset="0"/>
              </a:rPr>
              <a:t>/v1/users/{</a:t>
            </a:r>
            <a:r>
              <a:rPr lang="en-IN" sz="1100" dirty="0" err="1">
                <a:latin typeface="Courier New" panose="02070309020205020404" pitchFamily="49" charset="0"/>
              </a:rPr>
              <a:t>userId</a:t>
            </a:r>
            <a:r>
              <a:rPr lang="en-IN" sz="1100" dirty="0">
                <a:latin typeface="Courier New" panose="02070309020205020404" pitchFamily="49" charset="0"/>
              </a:rPr>
              <a:t>}</a:t>
            </a:r>
            <a:endParaRPr lang="en-IN" sz="11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1100" dirty="0">
                <a:latin typeface="Courier New" panose="02070309020205020404" pitchFamily="49" charset="0"/>
              </a:rPr>
              <a:t>PATCH /</a:t>
            </a:r>
            <a:r>
              <a:rPr lang="en-IN" sz="1100" dirty="0" err="1">
                <a:latin typeface="Courier New" panose="02070309020205020404" pitchFamily="49" charset="0"/>
              </a:rPr>
              <a:t>api</a:t>
            </a:r>
            <a:r>
              <a:rPr lang="en-IN" sz="1100" dirty="0">
                <a:latin typeface="Courier New" panose="02070309020205020404" pitchFamily="49" charset="0"/>
              </a:rPr>
              <a:t>/v1/users/me/preferences</a:t>
            </a:r>
            <a:br>
              <a:rPr lang="en-IN" sz="1100" dirty="0"/>
            </a:br>
            <a:r>
              <a:rPr lang="en-IN" sz="1100" dirty="0"/>
              <a:t>Body: theme, </a:t>
            </a:r>
            <a:r>
              <a:rPr lang="en-IN" sz="1100" dirty="0" err="1"/>
              <a:t>sensitiveMode</a:t>
            </a:r>
            <a:r>
              <a:rPr lang="en-IN" sz="1100" dirty="0"/>
              <a:t>, </a:t>
            </a:r>
            <a:r>
              <a:rPr lang="en-IN" sz="1100" dirty="0" err="1"/>
              <a:t>adultContentEnabled</a:t>
            </a:r>
            <a:endParaRPr lang="en-IN" sz="11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1100" dirty="0">
                <a:latin typeface="Courier New" panose="02070309020205020404" pitchFamily="49" charset="0"/>
              </a:rPr>
              <a:t>POST /</a:t>
            </a:r>
            <a:r>
              <a:rPr lang="en-IN" sz="1100" dirty="0" err="1">
                <a:latin typeface="Courier New" panose="02070309020205020404" pitchFamily="49" charset="0"/>
              </a:rPr>
              <a:t>api</a:t>
            </a:r>
            <a:r>
              <a:rPr lang="en-IN" sz="1100" dirty="0">
                <a:latin typeface="Courier New" panose="02070309020205020404" pitchFamily="49" charset="0"/>
              </a:rPr>
              <a:t>/v1/users/me/verify-age</a:t>
            </a:r>
            <a:r>
              <a:rPr lang="en-IN" sz="1100" dirty="0"/>
              <a:t> (MVP)</a:t>
            </a:r>
          </a:p>
          <a:p>
            <a:pPr>
              <a:buNone/>
            </a:pPr>
            <a:r>
              <a:rPr lang="en-IN" sz="1100" b="1" dirty="0"/>
              <a:t>Assets (media posts)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100" dirty="0">
                <a:latin typeface="Courier New" panose="02070309020205020404" pitchFamily="49" charset="0"/>
              </a:rPr>
              <a:t>POST /</a:t>
            </a:r>
            <a:r>
              <a:rPr lang="en-IN" sz="1100" dirty="0" err="1">
                <a:latin typeface="Courier New" panose="02070309020205020404" pitchFamily="49" charset="0"/>
              </a:rPr>
              <a:t>api</a:t>
            </a:r>
            <a:r>
              <a:rPr lang="en-IN" sz="1100" dirty="0">
                <a:latin typeface="Courier New" panose="02070309020205020404" pitchFamily="49" charset="0"/>
              </a:rPr>
              <a:t>/v1/assets</a:t>
            </a:r>
            <a:br>
              <a:rPr lang="en-IN" sz="1100" dirty="0"/>
            </a:br>
            <a:r>
              <a:rPr lang="en-IN" sz="1100" dirty="0"/>
              <a:t>Creates record + returns SAS URL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100" dirty="0">
                <a:latin typeface="Courier New" panose="02070309020205020404" pitchFamily="49" charset="0"/>
              </a:rPr>
              <a:t>PUT /</a:t>
            </a:r>
            <a:r>
              <a:rPr lang="en-IN" sz="1100" dirty="0" err="1">
                <a:latin typeface="Courier New" panose="02070309020205020404" pitchFamily="49" charset="0"/>
              </a:rPr>
              <a:t>api</a:t>
            </a:r>
            <a:r>
              <a:rPr lang="en-IN" sz="1100" dirty="0">
                <a:latin typeface="Courier New" panose="02070309020205020404" pitchFamily="49" charset="0"/>
              </a:rPr>
              <a:t>/v1/assets/{</a:t>
            </a:r>
            <a:r>
              <a:rPr lang="en-IN" sz="1100" dirty="0" err="1">
                <a:latin typeface="Courier New" panose="02070309020205020404" pitchFamily="49" charset="0"/>
              </a:rPr>
              <a:t>assetId</a:t>
            </a:r>
            <a:r>
              <a:rPr lang="en-IN" sz="1100" dirty="0">
                <a:latin typeface="Courier New" panose="02070309020205020404" pitchFamily="49" charset="0"/>
              </a:rPr>
              <a:t>}/blob</a:t>
            </a:r>
            <a:br>
              <a:rPr lang="en-IN" sz="1100" dirty="0"/>
            </a:br>
            <a:r>
              <a:rPr lang="en-IN" sz="1100" dirty="0"/>
              <a:t>(optional: confirm upload complete; triggers enqueue)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100" dirty="0">
                <a:latin typeface="Courier New" panose="02070309020205020404" pitchFamily="49" charset="0"/>
              </a:rPr>
              <a:t>GET /</a:t>
            </a:r>
            <a:r>
              <a:rPr lang="en-IN" sz="1100" dirty="0" err="1">
                <a:latin typeface="Courier New" panose="02070309020205020404" pitchFamily="49" charset="0"/>
              </a:rPr>
              <a:t>api</a:t>
            </a:r>
            <a:r>
              <a:rPr lang="en-IN" sz="1100" dirty="0">
                <a:latin typeface="Courier New" panose="02070309020205020404" pitchFamily="49" charset="0"/>
              </a:rPr>
              <a:t>/v1/assets</a:t>
            </a:r>
            <a:br>
              <a:rPr lang="en-IN" sz="1100" dirty="0"/>
            </a:br>
            <a:r>
              <a:rPr lang="en-IN" sz="1100" dirty="0"/>
              <a:t>Feed list with cursor pagination</a:t>
            </a:r>
            <a:br>
              <a:rPr lang="en-IN" sz="1100" dirty="0"/>
            </a:br>
            <a:r>
              <a:rPr lang="en-IN" sz="1100" dirty="0"/>
              <a:t>Query: </a:t>
            </a:r>
            <a:r>
              <a:rPr lang="en-IN" sz="1100" dirty="0">
                <a:latin typeface="Courier New" panose="02070309020205020404" pitchFamily="49" charset="0"/>
              </a:rPr>
              <a:t>cursor, limit, </a:t>
            </a:r>
            <a:r>
              <a:rPr lang="en-IN" sz="1100" dirty="0" err="1">
                <a:latin typeface="Courier New" panose="02070309020205020404" pitchFamily="49" charset="0"/>
              </a:rPr>
              <a:t>mediaType</a:t>
            </a:r>
            <a:r>
              <a:rPr lang="en-IN" sz="1100" dirty="0">
                <a:latin typeface="Courier New" panose="02070309020205020404" pitchFamily="49" charset="0"/>
              </a:rPr>
              <a:t>, tags, location, </a:t>
            </a:r>
            <a:r>
              <a:rPr lang="en-IN" sz="1100" dirty="0" err="1">
                <a:latin typeface="Courier New" panose="02070309020205020404" pitchFamily="49" charset="0"/>
              </a:rPr>
              <a:t>creatorId</a:t>
            </a:r>
            <a:endParaRPr lang="en-IN" sz="11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1100" dirty="0">
                <a:latin typeface="Courier New" panose="02070309020205020404" pitchFamily="49" charset="0"/>
              </a:rPr>
              <a:t>GET /</a:t>
            </a:r>
            <a:r>
              <a:rPr lang="en-IN" sz="1100" dirty="0" err="1">
                <a:latin typeface="Courier New" panose="02070309020205020404" pitchFamily="49" charset="0"/>
              </a:rPr>
              <a:t>api</a:t>
            </a:r>
            <a:r>
              <a:rPr lang="en-IN" sz="1100" dirty="0">
                <a:latin typeface="Courier New" panose="02070309020205020404" pitchFamily="49" charset="0"/>
              </a:rPr>
              <a:t>/v1/assets/{</a:t>
            </a:r>
            <a:r>
              <a:rPr lang="en-IN" sz="1100" dirty="0" err="1">
                <a:latin typeface="Courier New" panose="02070309020205020404" pitchFamily="49" charset="0"/>
              </a:rPr>
              <a:t>assetId</a:t>
            </a:r>
            <a:r>
              <a:rPr lang="en-IN" sz="1100" dirty="0">
                <a:latin typeface="Courier New" panose="02070309020205020404" pitchFamily="49" charset="0"/>
              </a:rPr>
              <a:t>}</a:t>
            </a:r>
            <a:endParaRPr lang="en-IN" sz="11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1100" dirty="0">
                <a:latin typeface="Courier New" panose="02070309020205020404" pitchFamily="49" charset="0"/>
              </a:rPr>
              <a:t>PATCH /</a:t>
            </a:r>
            <a:r>
              <a:rPr lang="en-IN" sz="1100" dirty="0" err="1">
                <a:latin typeface="Courier New" panose="02070309020205020404" pitchFamily="49" charset="0"/>
              </a:rPr>
              <a:t>api</a:t>
            </a:r>
            <a:r>
              <a:rPr lang="en-IN" sz="1100" dirty="0">
                <a:latin typeface="Courier New" panose="02070309020205020404" pitchFamily="49" charset="0"/>
              </a:rPr>
              <a:t>/v1/assets/{</a:t>
            </a:r>
            <a:r>
              <a:rPr lang="en-IN" sz="1100" dirty="0" err="1">
                <a:latin typeface="Courier New" panose="02070309020205020404" pitchFamily="49" charset="0"/>
              </a:rPr>
              <a:t>assetId</a:t>
            </a:r>
            <a:r>
              <a:rPr lang="en-IN" sz="1100" dirty="0">
                <a:latin typeface="Courier New" panose="02070309020205020404" pitchFamily="49" charset="0"/>
              </a:rPr>
              <a:t>}</a:t>
            </a:r>
            <a:br>
              <a:rPr lang="en-IN" sz="1100" dirty="0"/>
            </a:br>
            <a:r>
              <a:rPr lang="en-IN" sz="1100" dirty="0"/>
              <a:t>caption, hashtags, </a:t>
            </a:r>
            <a:r>
              <a:rPr lang="en-IN" sz="1100" dirty="0" err="1"/>
              <a:t>taggedUsers</a:t>
            </a:r>
            <a:r>
              <a:rPr lang="en-IN" sz="1100" dirty="0"/>
              <a:t>, location, flags, visibility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100" dirty="0">
                <a:latin typeface="Courier New" panose="02070309020205020404" pitchFamily="49" charset="0"/>
              </a:rPr>
              <a:t>DELETE /</a:t>
            </a:r>
            <a:r>
              <a:rPr lang="en-IN" sz="1100" dirty="0" err="1">
                <a:latin typeface="Courier New" panose="02070309020205020404" pitchFamily="49" charset="0"/>
              </a:rPr>
              <a:t>api</a:t>
            </a:r>
            <a:r>
              <a:rPr lang="en-IN" sz="1100" dirty="0">
                <a:latin typeface="Courier New" panose="02070309020205020404" pitchFamily="49" charset="0"/>
              </a:rPr>
              <a:t>/v1/assets/{</a:t>
            </a:r>
            <a:r>
              <a:rPr lang="en-IN" sz="1100" dirty="0" err="1">
                <a:latin typeface="Courier New" panose="02070309020205020404" pitchFamily="49" charset="0"/>
              </a:rPr>
              <a:t>assetId</a:t>
            </a:r>
            <a:r>
              <a:rPr lang="en-IN" sz="1100" dirty="0">
                <a:latin typeface="Courier New" panose="02070309020205020404" pitchFamily="49" charset="0"/>
              </a:rPr>
              <a:t>}</a:t>
            </a:r>
            <a:endParaRPr lang="en-IN" sz="1100" dirty="0"/>
          </a:p>
          <a:p>
            <a:endParaRPr lang="en-IN" sz="1100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641AD5C2-CFB2-51C3-0F75-0DA49E606382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172200" y="266700"/>
            <a:ext cx="5181603" cy="63246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IN" sz="1100" b="1" dirty="0"/>
              <a:t>Privacy &amp; access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100" dirty="0">
                <a:latin typeface="Courier New" panose="02070309020205020404" pitchFamily="49" charset="0"/>
              </a:rPr>
              <a:t>POST /</a:t>
            </a:r>
            <a:r>
              <a:rPr lang="en-IN" sz="1100" dirty="0" err="1">
                <a:latin typeface="Courier New" panose="02070309020205020404" pitchFamily="49" charset="0"/>
              </a:rPr>
              <a:t>api</a:t>
            </a:r>
            <a:r>
              <a:rPr lang="en-IN" sz="1100" dirty="0">
                <a:latin typeface="Courier New" panose="02070309020205020404" pitchFamily="49" charset="0"/>
              </a:rPr>
              <a:t>/v1/assets/{</a:t>
            </a:r>
            <a:r>
              <a:rPr lang="en-IN" sz="1100" dirty="0" err="1">
                <a:latin typeface="Courier New" panose="02070309020205020404" pitchFamily="49" charset="0"/>
              </a:rPr>
              <a:t>assetId</a:t>
            </a:r>
            <a:r>
              <a:rPr lang="en-IN" sz="1100" dirty="0">
                <a:latin typeface="Courier New" panose="02070309020205020404" pitchFamily="49" charset="0"/>
              </a:rPr>
              <a:t>}/</a:t>
            </a:r>
            <a:r>
              <a:rPr lang="en-IN" sz="1100" dirty="0" err="1">
                <a:latin typeface="Courier New" panose="02070309020205020404" pitchFamily="49" charset="0"/>
              </a:rPr>
              <a:t>acl</a:t>
            </a:r>
            <a:br>
              <a:rPr lang="en-IN" sz="1100" dirty="0"/>
            </a:br>
            <a:r>
              <a:rPr lang="en-IN" sz="1100" dirty="0"/>
              <a:t>Add selected viewers (private-to-selected)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100" dirty="0">
                <a:latin typeface="Courier New" panose="02070309020205020404" pitchFamily="49" charset="0"/>
              </a:rPr>
              <a:t>DELETE /</a:t>
            </a:r>
            <a:r>
              <a:rPr lang="en-IN" sz="1100" dirty="0" err="1">
                <a:latin typeface="Courier New" panose="02070309020205020404" pitchFamily="49" charset="0"/>
              </a:rPr>
              <a:t>api</a:t>
            </a:r>
            <a:r>
              <a:rPr lang="en-IN" sz="1100" dirty="0">
                <a:latin typeface="Courier New" panose="02070309020205020404" pitchFamily="49" charset="0"/>
              </a:rPr>
              <a:t>/v1/assets/{</a:t>
            </a:r>
            <a:r>
              <a:rPr lang="en-IN" sz="1100" dirty="0" err="1">
                <a:latin typeface="Courier New" panose="02070309020205020404" pitchFamily="49" charset="0"/>
              </a:rPr>
              <a:t>assetId</a:t>
            </a:r>
            <a:r>
              <a:rPr lang="en-IN" sz="1100" dirty="0">
                <a:latin typeface="Courier New" panose="02070309020205020404" pitchFamily="49" charset="0"/>
              </a:rPr>
              <a:t>}/</a:t>
            </a:r>
            <a:r>
              <a:rPr lang="en-IN" sz="1100" dirty="0" err="1">
                <a:latin typeface="Courier New" panose="02070309020205020404" pitchFamily="49" charset="0"/>
              </a:rPr>
              <a:t>acl</a:t>
            </a:r>
            <a:r>
              <a:rPr lang="en-IN" sz="1100" dirty="0">
                <a:latin typeface="Courier New" panose="02070309020205020404" pitchFamily="49" charset="0"/>
              </a:rPr>
              <a:t>/{</a:t>
            </a:r>
            <a:r>
              <a:rPr lang="en-IN" sz="1100" dirty="0" err="1">
                <a:latin typeface="Courier New" panose="02070309020205020404" pitchFamily="49" charset="0"/>
              </a:rPr>
              <a:t>viewerUserId</a:t>
            </a:r>
            <a:r>
              <a:rPr lang="en-IN" sz="1100" dirty="0">
                <a:latin typeface="Courier New" panose="02070309020205020404" pitchFamily="49" charset="0"/>
              </a:rPr>
              <a:t>}</a:t>
            </a:r>
            <a:endParaRPr lang="en-IN" sz="11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1100" dirty="0">
                <a:latin typeface="Courier New" panose="02070309020205020404" pitchFamily="49" charset="0"/>
              </a:rPr>
              <a:t>POST /</a:t>
            </a:r>
            <a:r>
              <a:rPr lang="en-IN" sz="1100" dirty="0" err="1">
                <a:latin typeface="Courier New" panose="02070309020205020404" pitchFamily="49" charset="0"/>
              </a:rPr>
              <a:t>api</a:t>
            </a:r>
            <a:r>
              <a:rPr lang="en-IN" sz="1100" dirty="0">
                <a:latin typeface="Courier New" panose="02070309020205020404" pitchFamily="49" charset="0"/>
              </a:rPr>
              <a:t>/v1/assets/{</a:t>
            </a:r>
            <a:r>
              <a:rPr lang="en-IN" sz="1100" dirty="0" err="1">
                <a:latin typeface="Courier New" panose="02070309020205020404" pitchFamily="49" charset="0"/>
              </a:rPr>
              <a:t>assetId</a:t>
            </a:r>
            <a:r>
              <a:rPr lang="en-IN" sz="1100" dirty="0">
                <a:latin typeface="Courier New" panose="02070309020205020404" pitchFamily="49" charset="0"/>
              </a:rPr>
              <a:t>}/share-links</a:t>
            </a:r>
            <a:br>
              <a:rPr lang="en-IN" sz="1100" dirty="0"/>
            </a:br>
            <a:r>
              <a:rPr lang="en-IN" sz="1100" dirty="0"/>
              <a:t>Create unlisted link token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100" dirty="0">
                <a:latin typeface="Courier New" panose="02070309020205020404" pitchFamily="49" charset="0"/>
              </a:rPr>
              <a:t>DELETE /</a:t>
            </a:r>
            <a:r>
              <a:rPr lang="en-IN" sz="1100" dirty="0" err="1">
                <a:latin typeface="Courier New" panose="02070309020205020404" pitchFamily="49" charset="0"/>
              </a:rPr>
              <a:t>api</a:t>
            </a:r>
            <a:r>
              <a:rPr lang="en-IN" sz="1100" dirty="0">
                <a:latin typeface="Courier New" panose="02070309020205020404" pitchFamily="49" charset="0"/>
              </a:rPr>
              <a:t>/v1/assets/{</a:t>
            </a:r>
            <a:r>
              <a:rPr lang="en-IN" sz="1100" dirty="0" err="1">
                <a:latin typeface="Courier New" panose="02070309020205020404" pitchFamily="49" charset="0"/>
              </a:rPr>
              <a:t>assetId</a:t>
            </a:r>
            <a:r>
              <a:rPr lang="en-IN" sz="1100" dirty="0">
                <a:latin typeface="Courier New" panose="02070309020205020404" pitchFamily="49" charset="0"/>
              </a:rPr>
              <a:t>}/share-links/{</a:t>
            </a:r>
            <a:r>
              <a:rPr lang="en-IN" sz="1100" dirty="0" err="1">
                <a:latin typeface="Courier New" panose="02070309020205020404" pitchFamily="49" charset="0"/>
              </a:rPr>
              <a:t>tokenId</a:t>
            </a:r>
            <a:r>
              <a:rPr lang="en-IN" sz="1100" dirty="0">
                <a:latin typeface="Courier New" panose="02070309020205020404" pitchFamily="49" charset="0"/>
              </a:rPr>
              <a:t>}</a:t>
            </a:r>
            <a:endParaRPr lang="en-IN" sz="1100" dirty="0"/>
          </a:p>
          <a:p>
            <a:pPr>
              <a:buNone/>
            </a:pPr>
            <a:r>
              <a:rPr lang="en-IN" sz="1100" b="1" dirty="0"/>
              <a:t>Likes &amp; comments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100" dirty="0">
                <a:latin typeface="Courier New" panose="02070309020205020404" pitchFamily="49" charset="0"/>
              </a:rPr>
              <a:t>POST /</a:t>
            </a:r>
            <a:r>
              <a:rPr lang="en-IN" sz="1100" dirty="0" err="1">
                <a:latin typeface="Courier New" panose="02070309020205020404" pitchFamily="49" charset="0"/>
              </a:rPr>
              <a:t>api</a:t>
            </a:r>
            <a:r>
              <a:rPr lang="en-IN" sz="1100" dirty="0">
                <a:latin typeface="Courier New" panose="02070309020205020404" pitchFamily="49" charset="0"/>
              </a:rPr>
              <a:t>/v1/assets/{</a:t>
            </a:r>
            <a:r>
              <a:rPr lang="en-IN" sz="1100" dirty="0" err="1">
                <a:latin typeface="Courier New" panose="02070309020205020404" pitchFamily="49" charset="0"/>
              </a:rPr>
              <a:t>assetId</a:t>
            </a:r>
            <a:r>
              <a:rPr lang="en-IN" sz="1100" dirty="0">
                <a:latin typeface="Courier New" panose="02070309020205020404" pitchFamily="49" charset="0"/>
              </a:rPr>
              <a:t>}/likes</a:t>
            </a:r>
            <a:endParaRPr lang="en-IN" sz="11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1100" dirty="0">
                <a:latin typeface="Courier New" panose="02070309020205020404" pitchFamily="49" charset="0"/>
              </a:rPr>
              <a:t>DELETE /</a:t>
            </a:r>
            <a:r>
              <a:rPr lang="en-IN" sz="1100" dirty="0" err="1">
                <a:latin typeface="Courier New" panose="02070309020205020404" pitchFamily="49" charset="0"/>
              </a:rPr>
              <a:t>api</a:t>
            </a:r>
            <a:r>
              <a:rPr lang="en-IN" sz="1100" dirty="0">
                <a:latin typeface="Courier New" panose="02070309020205020404" pitchFamily="49" charset="0"/>
              </a:rPr>
              <a:t>/v1/assets/{</a:t>
            </a:r>
            <a:r>
              <a:rPr lang="en-IN" sz="1100" dirty="0" err="1">
                <a:latin typeface="Courier New" panose="02070309020205020404" pitchFamily="49" charset="0"/>
              </a:rPr>
              <a:t>assetId</a:t>
            </a:r>
            <a:r>
              <a:rPr lang="en-IN" sz="1100" dirty="0">
                <a:latin typeface="Courier New" panose="02070309020205020404" pitchFamily="49" charset="0"/>
              </a:rPr>
              <a:t>}/likes</a:t>
            </a:r>
            <a:endParaRPr lang="en-IN" sz="11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1100" dirty="0">
                <a:latin typeface="Courier New" panose="02070309020205020404" pitchFamily="49" charset="0"/>
              </a:rPr>
              <a:t>POST /</a:t>
            </a:r>
            <a:r>
              <a:rPr lang="en-IN" sz="1100" dirty="0" err="1">
                <a:latin typeface="Courier New" panose="02070309020205020404" pitchFamily="49" charset="0"/>
              </a:rPr>
              <a:t>api</a:t>
            </a:r>
            <a:r>
              <a:rPr lang="en-IN" sz="1100" dirty="0">
                <a:latin typeface="Courier New" panose="02070309020205020404" pitchFamily="49" charset="0"/>
              </a:rPr>
              <a:t>/v1/assets/{</a:t>
            </a:r>
            <a:r>
              <a:rPr lang="en-IN" sz="1100" dirty="0" err="1">
                <a:latin typeface="Courier New" panose="02070309020205020404" pitchFamily="49" charset="0"/>
              </a:rPr>
              <a:t>assetId</a:t>
            </a:r>
            <a:r>
              <a:rPr lang="en-IN" sz="1100" dirty="0">
                <a:latin typeface="Courier New" panose="02070309020205020404" pitchFamily="49" charset="0"/>
              </a:rPr>
              <a:t>}/comments</a:t>
            </a:r>
            <a:endParaRPr lang="en-IN" sz="11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1100" dirty="0">
                <a:latin typeface="Courier New" panose="02070309020205020404" pitchFamily="49" charset="0"/>
              </a:rPr>
              <a:t>GET /</a:t>
            </a:r>
            <a:r>
              <a:rPr lang="en-IN" sz="1100" dirty="0" err="1">
                <a:latin typeface="Courier New" panose="02070309020205020404" pitchFamily="49" charset="0"/>
              </a:rPr>
              <a:t>api</a:t>
            </a:r>
            <a:r>
              <a:rPr lang="en-IN" sz="1100" dirty="0">
                <a:latin typeface="Courier New" panose="02070309020205020404" pitchFamily="49" charset="0"/>
              </a:rPr>
              <a:t>/v1/assets/{</a:t>
            </a:r>
            <a:r>
              <a:rPr lang="en-IN" sz="1100" dirty="0" err="1">
                <a:latin typeface="Courier New" panose="02070309020205020404" pitchFamily="49" charset="0"/>
              </a:rPr>
              <a:t>assetId</a:t>
            </a:r>
            <a:r>
              <a:rPr lang="en-IN" sz="1100" dirty="0">
                <a:latin typeface="Courier New" panose="02070309020205020404" pitchFamily="49" charset="0"/>
              </a:rPr>
              <a:t>}/</a:t>
            </a:r>
            <a:r>
              <a:rPr lang="en-IN" sz="1100" dirty="0" err="1">
                <a:latin typeface="Courier New" panose="02070309020205020404" pitchFamily="49" charset="0"/>
              </a:rPr>
              <a:t>comments?cursor</a:t>
            </a:r>
            <a:r>
              <a:rPr lang="en-IN" sz="1100" dirty="0">
                <a:latin typeface="Courier New" panose="02070309020205020404" pitchFamily="49" charset="0"/>
              </a:rPr>
              <a:t>=&amp;limit=</a:t>
            </a:r>
            <a:endParaRPr lang="en-IN" sz="11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1100" dirty="0">
                <a:latin typeface="Courier New" panose="02070309020205020404" pitchFamily="49" charset="0"/>
              </a:rPr>
              <a:t>DELETE /</a:t>
            </a:r>
            <a:r>
              <a:rPr lang="en-IN" sz="1100" dirty="0" err="1">
                <a:latin typeface="Courier New" panose="02070309020205020404" pitchFamily="49" charset="0"/>
              </a:rPr>
              <a:t>api</a:t>
            </a:r>
            <a:r>
              <a:rPr lang="en-IN" sz="1100" dirty="0">
                <a:latin typeface="Courier New" panose="02070309020205020404" pitchFamily="49" charset="0"/>
              </a:rPr>
              <a:t>/v1/assets/{</a:t>
            </a:r>
            <a:r>
              <a:rPr lang="en-IN" sz="1100" dirty="0" err="1">
                <a:latin typeface="Courier New" panose="02070309020205020404" pitchFamily="49" charset="0"/>
              </a:rPr>
              <a:t>assetId</a:t>
            </a:r>
            <a:r>
              <a:rPr lang="en-IN" sz="1100" dirty="0">
                <a:latin typeface="Courier New" panose="02070309020205020404" pitchFamily="49" charset="0"/>
              </a:rPr>
              <a:t>}/comments/{</a:t>
            </a:r>
            <a:r>
              <a:rPr lang="en-IN" sz="1100" dirty="0" err="1">
                <a:latin typeface="Courier New" panose="02070309020205020404" pitchFamily="49" charset="0"/>
              </a:rPr>
              <a:t>commentId</a:t>
            </a:r>
            <a:r>
              <a:rPr lang="en-IN" sz="1100" dirty="0">
                <a:latin typeface="Courier New" panose="02070309020205020404" pitchFamily="49" charset="0"/>
              </a:rPr>
              <a:t>}</a:t>
            </a:r>
            <a:r>
              <a:rPr lang="en-IN" sz="1100" dirty="0"/>
              <a:t> (optional)</a:t>
            </a:r>
          </a:p>
          <a:p>
            <a:pPr>
              <a:buNone/>
            </a:pPr>
            <a:r>
              <a:rPr lang="en-IN" sz="1100" b="1" dirty="0"/>
              <a:t>Tagging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100" dirty="0">
                <a:latin typeface="Courier New" panose="02070309020205020404" pitchFamily="49" charset="0"/>
              </a:rPr>
              <a:t>POST /</a:t>
            </a:r>
            <a:r>
              <a:rPr lang="en-IN" sz="1100" dirty="0" err="1">
                <a:latin typeface="Courier New" panose="02070309020205020404" pitchFamily="49" charset="0"/>
              </a:rPr>
              <a:t>api</a:t>
            </a:r>
            <a:r>
              <a:rPr lang="en-IN" sz="1100" dirty="0">
                <a:latin typeface="Courier New" panose="02070309020205020404" pitchFamily="49" charset="0"/>
              </a:rPr>
              <a:t>/v1/assets/{</a:t>
            </a:r>
            <a:r>
              <a:rPr lang="en-IN" sz="1100" dirty="0" err="1">
                <a:latin typeface="Courier New" panose="02070309020205020404" pitchFamily="49" charset="0"/>
              </a:rPr>
              <a:t>assetId</a:t>
            </a:r>
            <a:r>
              <a:rPr lang="en-IN" sz="1100" dirty="0">
                <a:latin typeface="Courier New" panose="02070309020205020404" pitchFamily="49" charset="0"/>
              </a:rPr>
              <a:t>}/tags/users</a:t>
            </a:r>
            <a:r>
              <a:rPr lang="en-IN" sz="1100" dirty="0"/>
              <a:t> (batch tagging)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100" dirty="0">
                <a:latin typeface="Courier New" panose="02070309020205020404" pitchFamily="49" charset="0"/>
              </a:rPr>
              <a:t>POST /</a:t>
            </a:r>
            <a:r>
              <a:rPr lang="en-IN" sz="1100" dirty="0" err="1">
                <a:latin typeface="Courier New" panose="02070309020205020404" pitchFamily="49" charset="0"/>
              </a:rPr>
              <a:t>api</a:t>
            </a:r>
            <a:r>
              <a:rPr lang="en-IN" sz="1100" dirty="0">
                <a:latin typeface="Courier New" panose="02070309020205020404" pitchFamily="49" charset="0"/>
              </a:rPr>
              <a:t>/v1/assets/{</a:t>
            </a:r>
            <a:r>
              <a:rPr lang="en-IN" sz="1100" dirty="0" err="1">
                <a:latin typeface="Courier New" panose="02070309020205020404" pitchFamily="49" charset="0"/>
              </a:rPr>
              <a:t>assetId</a:t>
            </a:r>
            <a:r>
              <a:rPr lang="en-IN" sz="1100" dirty="0">
                <a:latin typeface="Courier New" panose="02070309020205020404" pitchFamily="49" charset="0"/>
              </a:rPr>
              <a:t>}/tags/location</a:t>
            </a:r>
            <a:endParaRPr lang="en-IN" sz="1100" dirty="0"/>
          </a:p>
          <a:p>
            <a:pPr>
              <a:buNone/>
            </a:pPr>
            <a:r>
              <a:rPr lang="en-IN" sz="1100" b="1" dirty="0"/>
              <a:t>Search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100" dirty="0">
                <a:latin typeface="Courier New" panose="02070309020205020404" pitchFamily="49" charset="0"/>
              </a:rPr>
              <a:t>GET /</a:t>
            </a:r>
            <a:r>
              <a:rPr lang="en-IN" sz="1100" dirty="0" err="1">
                <a:latin typeface="Courier New" panose="02070309020205020404" pitchFamily="49" charset="0"/>
              </a:rPr>
              <a:t>api</a:t>
            </a:r>
            <a:r>
              <a:rPr lang="en-IN" sz="1100" dirty="0">
                <a:latin typeface="Courier New" panose="02070309020205020404" pitchFamily="49" charset="0"/>
              </a:rPr>
              <a:t>/v1/search</a:t>
            </a:r>
            <a:br>
              <a:rPr lang="en-IN" sz="1100" dirty="0"/>
            </a:br>
            <a:r>
              <a:rPr lang="en-IN" sz="1100" dirty="0"/>
              <a:t>Query: </a:t>
            </a:r>
            <a:r>
              <a:rPr lang="en-IN" sz="1100" dirty="0">
                <a:latin typeface="Courier New" panose="02070309020205020404" pitchFamily="49" charset="0"/>
              </a:rPr>
              <a:t>q, tags, </a:t>
            </a:r>
            <a:r>
              <a:rPr lang="en-IN" sz="1100" dirty="0" err="1">
                <a:latin typeface="Courier New" panose="02070309020205020404" pitchFamily="49" charset="0"/>
              </a:rPr>
              <a:t>mediaType</a:t>
            </a:r>
            <a:r>
              <a:rPr lang="en-IN" sz="1100" dirty="0">
                <a:latin typeface="Courier New" panose="02070309020205020404" pitchFamily="49" charset="0"/>
              </a:rPr>
              <a:t>, location, from, to, cursor</a:t>
            </a:r>
            <a:endParaRPr lang="en-IN" sz="11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1100" dirty="0">
                <a:latin typeface="Courier New" panose="02070309020205020404" pitchFamily="49" charset="0"/>
              </a:rPr>
              <a:t>POST /</a:t>
            </a:r>
            <a:r>
              <a:rPr lang="en-IN" sz="1100" dirty="0" err="1">
                <a:latin typeface="Courier New" panose="02070309020205020404" pitchFamily="49" charset="0"/>
              </a:rPr>
              <a:t>api</a:t>
            </a:r>
            <a:r>
              <a:rPr lang="en-IN" sz="1100" dirty="0">
                <a:latin typeface="Courier New" panose="02070309020205020404" pitchFamily="49" charset="0"/>
              </a:rPr>
              <a:t>/v1/search/image</a:t>
            </a:r>
            <a:r>
              <a:rPr lang="en-IN" sz="1100" dirty="0"/>
              <a:t> (planned advanced)</a:t>
            </a:r>
            <a:br>
              <a:rPr lang="en-IN" sz="1100" dirty="0"/>
            </a:br>
            <a:r>
              <a:rPr lang="en-IN" sz="1100" dirty="0"/>
              <a:t>Upload query image → returns similar assets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100" dirty="0">
                <a:latin typeface="Courier New" panose="02070309020205020404" pitchFamily="49" charset="0"/>
              </a:rPr>
              <a:t>POST /</a:t>
            </a:r>
            <a:r>
              <a:rPr lang="en-IN" sz="1100" dirty="0" err="1">
                <a:latin typeface="Courier New" panose="02070309020205020404" pitchFamily="49" charset="0"/>
              </a:rPr>
              <a:t>api</a:t>
            </a:r>
            <a:r>
              <a:rPr lang="en-IN" sz="1100" dirty="0">
                <a:latin typeface="Courier New" panose="02070309020205020404" pitchFamily="49" charset="0"/>
              </a:rPr>
              <a:t>/v1/search/audio</a:t>
            </a:r>
            <a:r>
              <a:rPr lang="en-IN" sz="1100" dirty="0"/>
              <a:t> (future)</a:t>
            </a:r>
            <a:br>
              <a:rPr lang="en-IN" sz="1100" dirty="0"/>
            </a:br>
            <a:r>
              <a:rPr lang="en-IN" sz="1100" dirty="0"/>
              <a:t>Upload clip → returns best match</a:t>
            </a:r>
          </a:p>
          <a:p>
            <a:pPr marL="0" indent="0">
              <a:buNone/>
            </a:pPr>
            <a:endParaRPr lang="en-IN" sz="1100" dirty="0"/>
          </a:p>
        </p:txBody>
      </p:sp>
    </p:spTree>
    <p:extLst>
      <p:ext uri="{BB962C8B-B14F-4D97-AF65-F5344CB8AC3E}">
        <p14:creationId xmlns:p14="http://schemas.microsoft.com/office/powerpoint/2010/main" val="36580896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D03A4D-5401-7451-2DC9-B1893239CA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3" y="365129"/>
            <a:ext cx="4324347" cy="1325559"/>
          </a:xfrm>
        </p:spPr>
        <p:txBody>
          <a:bodyPr/>
          <a:lstStyle/>
          <a:p>
            <a:r>
              <a:rPr lang="en-IN" dirty="0"/>
              <a:t>UML sequence diagrams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E21A2146-3041-FAC9-363E-12564460F9B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3" y="1646805"/>
            <a:ext cx="4571997" cy="4708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Your module says CREATE + GET is enough to prove CRUD understanding. </a:t>
            </a:r>
            <a:endParaRPr kumimoji="0" lang="en-US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UML: CREATE asset (upload)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 selects file + metadata in browser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Browser → APIM: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POST /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api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/v1/assets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APIM →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LogicApp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CreateAsset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): forward request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LogicApp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validates session cookie, writes: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SQL: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AssetsCore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(+ ACL if private-to-selected)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Cosmos: placeholder feed doc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  <a:tabLst/>
            </a:pP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LogicApp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generates SAS URL for blob upload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6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Response returns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assetId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+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sasUploadUrl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7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Browser uploads directly to Blob using SAS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8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Blob triggers queue message for processing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9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Function processes media, writes results to Cosmos doc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10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Asset becomes visible per privacy rules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UML: GET feed (privacy enforced)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Browser → APIM: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GET /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api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/v1/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assets?cursor&amp;filters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LogicApp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validates session + user preferences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Query Cosmos for candidate feed docs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 private/premium assets,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LogicApp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checks SQL ACL/entitlements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  <a:tabLst/>
            </a:pP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LogicApp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filters list; returns only allowed items + URLs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6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Browser loads media via CDN or signed URL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F1FB47C5-0E5E-7164-36AF-7D135313B8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62551" y="-1"/>
            <a:ext cx="7029450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03903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E02239D2-A05D-4A1C-9F06-FBA7FC730E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42AF0D-FCC8-3F3B-49B1-7922BBA145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9300" y="200025"/>
            <a:ext cx="8985250" cy="1088231"/>
          </a:xfrm>
        </p:spPr>
        <p:txBody>
          <a:bodyPr anchor="t">
            <a:normAutofit fontScale="90000"/>
          </a:bodyPr>
          <a:lstStyle/>
          <a:p>
            <a:r>
              <a:rPr lang="en-US" sz="3700" dirty="0"/>
              <a:t>Advanced features | limitations | scalability |  conclusion</a:t>
            </a:r>
            <a:endParaRPr lang="en-IN" sz="3700" dirty="0"/>
          </a:p>
        </p:txBody>
      </p:sp>
      <p:pic>
        <p:nvPicPr>
          <p:cNvPr id="17" name="Graphic 16" descr="Magnifying glass">
            <a:extLst>
              <a:ext uri="{FF2B5EF4-FFF2-40B4-BE49-F238E27FC236}">
                <a16:creationId xmlns:a16="http://schemas.microsoft.com/office/drawing/2014/main" id="{E0918150-80F9-E936-260A-09257F5C57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87450" y="320279"/>
            <a:ext cx="749300" cy="749300"/>
          </a:xfrm>
          <a:prstGeom prst="rect">
            <a:avLst/>
          </a:prstGeom>
        </p:spPr>
      </p:pic>
      <p:sp>
        <p:nvSpPr>
          <p:cNvPr id="7" name="Rectangle 2">
            <a:extLst>
              <a:ext uri="{FF2B5EF4-FFF2-40B4-BE49-F238E27FC236}">
                <a16:creationId xmlns:a16="http://schemas.microsoft.com/office/drawing/2014/main" id="{90BABA83-BAA9-F2D5-67AF-2605088244D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09649" y="1190625"/>
            <a:ext cx="10563225" cy="5667374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Advanced features (planned)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Image similarity search: embeddings + vector search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Audio recognition (Shazam-like): fingerprinting pipeline + index (future research)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AI moderation/content safety: classify sensitive/18+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Recommendations/personalization: feed ranking improvements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Monetization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Creator monthly subscriptions (premium-only posts)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Creator payouts after thresholds (followers/engagement)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Fraud controls: rate limits, anomaly detection, bot prevention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Limitations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Audio recognition is complex: requires dataset + fingerprinting accuracy concerns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AI moderation can be wrong: false positives/negatives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Cost risks: CDN egress, storage growth, AI calls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Vendor lock-in risks: mitigated via modular interfaces and export paths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Scalability assessment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Serverless auto-scaling handles traffic spikes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Blob storage scales for massive media volumes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Queue decouples processing to prevent overload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Cosmos DB supports high read throughput for feed/search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CDN reduces latency and origin load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Conclusion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</a:b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HyMedia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is designed as a cloud-native serverless multimedia platform that supports rich media, strong privacy controls, safety preferences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, interactive social features, and a clear roadmap for AI-powered discovery and monetization.</a:t>
            </a:r>
          </a:p>
        </p:txBody>
      </p:sp>
    </p:spTree>
    <p:extLst>
      <p:ext uri="{BB962C8B-B14F-4D97-AF65-F5344CB8AC3E}">
        <p14:creationId xmlns:p14="http://schemas.microsoft.com/office/powerpoint/2010/main" val="27185555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A23B9B-5B42-87C1-9983-B01E8801E5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186FC0-363E-C830-5C71-7190626A9F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pPr>
              <a:buNone/>
            </a:pPr>
            <a:r>
              <a:rPr lang="en-IN" dirty="0"/>
              <a:t>Amazon Web Services (2023) </a:t>
            </a:r>
            <a:r>
              <a:rPr lang="en-IN" i="1" dirty="0"/>
              <a:t>What is cloud computing?</a:t>
            </a:r>
            <a:r>
              <a:rPr lang="en-IN" dirty="0"/>
              <a:t> Available at: </a:t>
            </a:r>
            <a:r>
              <a:rPr lang="en-IN" dirty="0">
                <a:hlinkClick r:id="rId2"/>
              </a:rPr>
              <a:t>https://aws.amazon.com/what-is-cloud-computing/</a:t>
            </a:r>
            <a:r>
              <a:rPr lang="en-IN" dirty="0"/>
              <a:t> (Accessed: 5 March 2026).</a:t>
            </a:r>
          </a:p>
          <a:p>
            <a:pPr>
              <a:buNone/>
            </a:pPr>
            <a:r>
              <a:rPr lang="en-IN" dirty="0"/>
              <a:t>Fielding, R.T. (2000) </a:t>
            </a:r>
            <a:r>
              <a:rPr lang="en-IN" i="1" dirty="0"/>
              <a:t>Architectural styles and the design of network-based software architectures</a:t>
            </a:r>
            <a:r>
              <a:rPr lang="en-IN" dirty="0"/>
              <a:t>. Doctoral dissertation. University of California, Irvine.</a:t>
            </a:r>
          </a:p>
          <a:p>
            <a:pPr>
              <a:buNone/>
            </a:pPr>
            <a:r>
              <a:rPr lang="en-IN" dirty="0"/>
              <a:t>Microsoft (2024) </a:t>
            </a:r>
            <a:r>
              <a:rPr lang="en-IN" i="1" dirty="0"/>
              <a:t>Azure Blob Storage documentation</a:t>
            </a:r>
            <a:r>
              <a:rPr lang="en-IN" dirty="0"/>
              <a:t>. Available at: </a:t>
            </a:r>
            <a:r>
              <a:rPr lang="en-IN" dirty="0">
                <a:hlinkClick r:id="rId3"/>
              </a:rPr>
              <a:t>https://learn.microsoft.com/en-us/azure/storage/blobs/</a:t>
            </a:r>
            <a:r>
              <a:rPr lang="en-IN" dirty="0"/>
              <a:t> (Accessed: 5 March 2026).</a:t>
            </a:r>
          </a:p>
          <a:p>
            <a:pPr>
              <a:buNone/>
            </a:pPr>
            <a:r>
              <a:rPr lang="en-IN" dirty="0"/>
              <a:t>Microsoft (2024) </a:t>
            </a:r>
            <a:r>
              <a:rPr lang="en-IN" i="1" dirty="0"/>
              <a:t>Azure Cosmos DB documentation</a:t>
            </a:r>
            <a:r>
              <a:rPr lang="en-IN" dirty="0"/>
              <a:t>. Available at: </a:t>
            </a:r>
            <a:r>
              <a:rPr lang="en-IN" dirty="0">
                <a:hlinkClick r:id="rId4"/>
              </a:rPr>
              <a:t>https://learn.microsoft.com/en-us/azure/cosmos-db/</a:t>
            </a:r>
            <a:r>
              <a:rPr lang="en-IN" dirty="0"/>
              <a:t> (Accessed: 5 March 2026).</a:t>
            </a:r>
          </a:p>
          <a:p>
            <a:pPr>
              <a:buNone/>
            </a:pPr>
            <a:r>
              <a:rPr lang="en-IN" dirty="0"/>
              <a:t>Microsoft (2024) </a:t>
            </a:r>
            <a:r>
              <a:rPr lang="en-IN" i="1" dirty="0"/>
              <a:t>Azure Functions documentation</a:t>
            </a:r>
            <a:r>
              <a:rPr lang="en-IN" dirty="0"/>
              <a:t>. Available at: </a:t>
            </a:r>
            <a:r>
              <a:rPr lang="en-IN" dirty="0">
                <a:hlinkClick r:id="rId5"/>
              </a:rPr>
              <a:t>https://learn.microsoft.com/en-us/azure/azure-functions/</a:t>
            </a:r>
            <a:r>
              <a:rPr lang="en-IN" dirty="0"/>
              <a:t> (Accessed: 5 March 2026).</a:t>
            </a:r>
          </a:p>
          <a:p>
            <a:pPr>
              <a:buNone/>
            </a:pPr>
            <a:r>
              <a:rPr lang="en-IN" dirty="0"/>
              <a:t>Microsoft (2024) </a:t>
            </a:r>
            <a:r>
              <a:rPr lang="en-IN" i="1" dirty="0"/>
              <a:t>Azure Logic Apps documentation</a:t>
            </a:r>
            <a:r>
              <a:rPr lang="en-IN" dirty="0"/>
              <a:t>. Available at: </a:t>
            </a:r>
            <a:r>
              <a:rPr lang="en-IN" dirty="0">
                <a:hlinkClick r:id="rId6"/>
              </a:rPr>
              <a:t>https://learn.microsoft.com/en-us/azure/logic-apps/</a:t>
            </a:r>
            <a:r>
              <a:rPr lang="en-IN" dirty="0"/>
              <a:t> (Accessed: 5 March 2026).</a:t>
            </a:r>
          </a:p>
          <a:p>
            <a:pPr>
              <a:buNone/>
            </a:pPr>
            <a:r>
              <a:rPr lang="en-IN" dirty="0"/>
              <a:t>Microsoft (2024) </a:t>
            </a:r>
            <a:r>
              <a:rPr lang="en-IN" i="1" dirty="0"/>
              <a:t>Azure Content Delivery Network (CDN) documentation</a:t>
            </a:r>
            <a:r>
              <a:rPr lang="en-IN" dirty="0"/>
              <a:t>. Available at: </a:t>
            </a:r>
            <a:r>
              <a:rPr lang="en-IN" dirty="0">
                <a:hlinkClick r:id="rId7"/>
              </a:rPr>
              <a:t>https://learn.microsoft.com/en-us/azure/cdn/</a:t>
            </a:r>
            <a:r>
              <a:rPr lang="en-IN" dirty="0"/>
              <a:t> (Accessed: 5 March 2026).</a:t>
            </a:r>
          </a:p>
          <a:p>
            <a:pPr>
              <a:buNone/>
            </a:pPr>
            <a:r>
              <a:rPr lang="en-IN" dirty="0"/>
              <a:t>Microsoft (2024) </a:t>
            </a:r>
            <a:r>
              <a:rPr lang="en-IN" i="1" dirty="0"/>
              <a:t>Designing RESTful web APIs</a:t>
            </a:r>
            <a:r>
              <a:rPr lang="en-IN" dirty="0"/>
              <a:t>. Available at: </a:t>
            </a:r>
            <a:r>
              <a:rPr lang="en-IN" dirty="0">
                <a:hlinkClick r:id="rId8"/>
              </a:rPr>
              <a:t>https://learn.microsoft.com/en-us/azure/architecture/best-practices/api-design</a:t>
            </a:r>
            <a:r>
              <a:rPr lang="en-IN" dirty="0"/>
              <a:t> (Accessed: 5 March 2026).</a:t>
            </a:r>
          </a:p>
          <a:p>
            <a:pPr>
              <a:buNone/>
            </a:pPr>
            <a:r>
              <a:rPr lang="en-IN" dirty="0"/>
              <a:t>Newman, S. (2021) </a:t>
            </a:r>
            <a:r>
              <a:rPr lang="en-IN" i="1" dirty="0"/>
              <a:t>Building microservices: Designing fine-grained systems</a:t>
            </a:r>
            <a:r>
              <a:rPr lang="en-IN" dirty="0"/>
              <a:t>. 2nd </a:t>
            </a:r>
            <a:r>
              <a:rPr lang="en-IN" dirty="0" err="1"/>
              <a:t>edn</a:t>
            </a:r>
            <a:r>
              <a:rPr lang="en-IN" dirty="0"/>
              <a:t>. Sebastopol: O’Reilly Media.</a:t>
            </a:r>
          </a:p>
          <a:p>
            <a:pPr>
              <a:buNone/>
            </a:pPr>
            <a:r>
              <a:rPr lang="en-IN" dirty="0"/>
              <a:t>Pahl, C. (2015) ‘Containerization and the PaaS cloud’, </a:t>
            </a:r>
            <a:r>
              <a:rPr lang="en-IN" i="1" dirty="0"/>
              <a:t>IEEE Cloud Computing</a:t>
            </a:r>
            <a:r>
              <a:rPr lang="en-IN" dirty="0"/>
              <a:t>, 2(3), pp. 24–31.</a:t>
            </a:r>
          </a:p>
          <a:p>
            <a:pPr>
              <a:buNone/>
            </a:pPr>
            <a:r>
              <a:rPr lang="en-IN" dirty="0"/>
              <a:t>Tariq, Z. and Kamal, R. (2025) </a:t>
            </a:r>
            <a:r>
              <a:rPr lang="en-IN" i="1" dirty="0"/>
              <a:t>COM682 Cloud Native Development: Module introduction</a:t>
            </a:r>
            <a:r>
              <a:rPr lang="en-IN" dirty="0"/>
              <a:t>. Ulster University.</a:t>
            </a:r>
          </a:p>
          <a:p>
            <a:pPr>
              <a:buNone/>
            </a:pPr>
            <a:r>
              <a:rPr lang="en-IN" dirty="0"/>
              <a:t>Ulster University (2025) </a:t>
            </a:r>
            <a:r>
              <a:rPr lang="en-IN" i="1" dirty="0"/>
              <a:t>COM682 coursework assessment overview</a:t>
            </a:r>
            <a:r>
              <a:rPr lang="en-IN" dirty="0"/>
              <a:t>. Ulster University.</a:t>
            </a:r>
          </a:p>
          <a:p>
            <a:pPr>
              <a:buNone/>
            </a:pPr>
            <a:r>
              <a:rPr lang="en-IN" dirty="0"/>
              <a:t>Ulster University (2025) </a:t>
            </a:r>
            <a:r>
              <a:rPr lang="en-IN" i="1" dirty="0"/>
              <a:t>Cloud computing concepts lecture slides</a:t>
            </a:r>
            <a:r>
              <a:rPr lang="en-IN" dirty="0"/>
              <a:t>. Ulster University.</a:t>
            </a:r>
          </a:p>
          <a:p>
            <a:pPr>
              <a:buNone/>
            </a:pPr>
            <a:r>
              <a:rPr lang="en-IN" dirty="0"/>
              <a:t>Zhang, Q., Chen, M. and Li, L. (2010) ‘Cloud computing: state-of-the-art and research challenges’, </a:t>
            </a:r>
            <a:r>
              <a:rPr lang="en-IN" i="1" dirty="0"/>
              <a:t>Journal of Internet Services and Applications</a:t>
            </a:r>
            <a:r>
              <a:rPr lang="en-IN" dirty="0"/>
              <a:t>, 1(1), pp. 7–18.</a:t>
            </a:r>
          </a:p>
          <a:p>
            <a:pPr>
              <a:buNone/>
            </a:pPr>
            <a:r>
              <a:rPr lang="en-US" dirty="0"/>
              <a:t>OpenAI, 2026. ChatGPT. </a:t>
            </a:r>
            <a:r>
              <a:rPr lang="en-US"/>
              <a:t>[Online] Available at: https://chat.openai.com/ [Accessed 5 March 2026]. </a:t>
            </a: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441824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27DF62-21B7-F985-8A6E-45759576B1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3" y="219075"/>
            <a:ext cx="10515600" cy="723901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Appendix: Coursework Submission Checklist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D8538D-E426-F2E8-0948-65CBC149EA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3" y="838199"/>
            <a:ext cx="10515600" cy="5338763"/>
          </a:xfrm>
        </p:spPr>
        <p:txBody>
          <a:bodyPr>
            <a:noAutofit/>
          </a:bodyPr>
          <a:lstStyle/>
          <a:p>
            <a:pPr algn="l">
              <a:buNone/>
            </a:pPr>
            <a:r>
              <a:rPr lang="en-US" sz="1300" b="1" i="0" dirty="0"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General</a:t>
            </a:r>
            <a:br>
              <a:rPr lang="en-US" sz="1300" b="0" i="0" dirty="0">
                <a:solidFill>
                  <a:srgbClr val="262626"/>
                </a:solidFill>
                <a:effectLst/>
                <a:latin typeface="Open Sans" panose="020B0606030504020204" pitchFamily="34" charset="0"/>
              </a:rPr>
            </a:br>
            <a:r>
              <a:rPr lang="en-US" sz="1300" b="0" i="0" dirty="0"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• Did you include a title slide with project name, one-line description, your name, and student number?</a:t>
            </a:r>
            <a:br>
              <a:rPr lang="en-US" sz="1300" b="0" i="0" dirty="0">
                <a:solidFill>
                  <a:srgbClr val="262626"/>
                </a:solidFill>
                <a:effectLst/>
                <a:latin typeface="Open Sans" panose="020B0606030504020204" pitchFamily="34" charset="0"/>
              </a:rPr>
            </a:br>
            <a:r>
              <a:rPr lang="en-US" sz="1300" b="0" i="0" dirty="0"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• Is your submission in PowerPoint format and within 15 slides (excluding references)?</a:t>
            </a:r>
            <a:br>
              <a:rPr lang="en-US" sz="1300" b="0" i="0" dirty="0">
                <a:solidFill>
                  <a:srgbClr val="262626"/>
                </a:solidFill>
                <a:effectLst/>
                <a:latin typeface="Open Sans" panose="020B0606030504020204" pitchFamily="34" charset="0"/>
              </a:rPr>
            </a:br>
            <a:r>
              <a:rPr lang="en-US" sz="1300" b="0" i="0" dirty="0"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Problem &amp; Context</a:t>
            </a:r>
            <a:br>
              <a:rPr lang="en-US" sz="1300" b="0" i="0" dirty="0">
                <a:solidFill>
                  <a:srgbClr val="262626"/>
                </a:solidFill>
                <a:effectLst/>
                <a:latin typeface="Open Sans" panose="020B0606030504020204" pitchFamily="34" charset="0"/>
              </a:rPr>
            </a:br>
            <a:r>
              <a:rPr lang="en-US" sz="1300" b="0" i="0" dirty="0"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• Did you discuss the problem you are solving?</a:t>
            </a:r>
            <a:br>
              <a:rPr lang="en-US" sz="1300" b="0" i="0" dirty="0">
                <a:solidFill>
                  <a:srgbClr val="262626"/>
                </a:solidFill>
                <a:effectLst/>
                <a:latin typeface="Open Sans" panose="020B0606030504020204" pitchFamily="34" charset="0"/>
              </a:rPr>
            </a:br>
            <a:r>
              <a:rPr lang="en-US" sz="1300" b="0" i="0" dirty="0"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• Did you identify issues related to scalability of resources in your project?</a:t>
            </a:r>
            <a:endParaRPr lang="en-US" sz="1300" dirty="0">
              <a:solidFill>
                <a:srgbClr val="262626"/>
              </a:solidFill>
              <a:latin typeface="Open Sans" panose="020B0606030504020204" pitchFamily="34" charset="0"/>
            </a:endParaRPr>
          </a:p>
          <a:p>
            <a:pPr algn="l">
              <a:buNone/>
            </a:pPr>
            <a:r>
              <a:rPr lang="en-US" sz="1300" b="1" i="0" dirty="0"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Solution Design</a:t>
            </a:r>
            <a:br>
              <a:rPr lang="en-US" sz="1300" b="0" i="0" dirty="0">
                <a:solidFill>
                  <a:srgbClr val="262626"/>
                </a:solidFill>
                <a:effectLst/>
                <a:latin typeface="Open Sans" panose="020B0606030504020204" pitchFamily="34" charset="0"/>
              </a:rPr>
            </a:br>
            <a:r>
              <a:rPr lang="en-US" sz="1300" b="0" i="0" dirty="0"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• Did you include a solution architecture diagram using only Azure resources?</a:t>
            </a:r>
            <a:br>
              <a:rPr lang="en-US" sz="1300" b="0" i="0" dirty="0">
                <a:solidFill>
                  <a:srgbClr val="262626"/>
                </a:solidFill>
                <a:effectLst/>
                <a:latin typeface="Open Sans" panose="020B0606030504020204" pitchFamily="34" charset="0"/>
              </a:rPr>
            </a:br>
            <a:r>
              <a:rPr lang="en-US" sz="1300" b="0" i="0" dirty="0"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• Did you design and present a multimedia hosting webpage layout (wireframe or design diagram)?</a:t>
            </a:r>
            <a:br>
              <a:rPr lang="en-US" sz="1300" b="0" i="0" dirty="0">
                <a:solidFill>
                  <a:srgbClr val="262626"/>
                </a:solidFill>
                <a:effectLst/>
                <a:latin typeface="Open Sans" panose="020B0606030504020204" pitchFamily="34" charset="0"/>
              </a:rPr>
            </a:br>
            <a:r>
              <a:rPr lang="en-US" sz="1300" b="0" i="0" dirty="0"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• Did you include a network/architecture diagram showing compute, storage, networking, etc.?</a:t>
            </a:r>
            <a:br>
              <a:rPr lang="en-US" sz="1300" b="0" i="0" dirty="0">
                <a:solidFill>
                  <a:srgbClr val="262626"/>
                </a:solidFill>
                <a:effectLst/>
                <a:latin typeface="Open Sans" panose="020B0606030504020204" pitchFamily="34" charset="0"/>
              </a:rPr>
            </a:br>
            <a:r>
              <a:rPr lang="en-US" sz="1300" b="0" i="0" dirty="0"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• Did you design a database schema (list of resources and/or ERD diagram) for storing user entries?</a:t>
            </a:r>
            <a:br>
              <a:rPr lang="en-US" sz="1300" b="0" i="0" dirty="0">
                <a:solidFill>
                  <a:srgbClr val="262626"/>
                </a:solidFill>
                <a:effectLst/>
                <a:latin typeface="Open Sans" panose="020B0606030504020204" pitchFamily="34" charset="0"/>
              </a:rPr>
            </a:br>
            <a:r>
              <a:rPr lang="en-US" sz="1300" b="0" i="0" dirty="0"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• Did you design the REST API for CRUD operations and present it in a UML diagram?</a:t>
            </a:r>
            <a:br>
              <a:rPr lang="en-US" sz="1300" b="0" i="0" dirty="0">
                <a:solidFill>
                  <a:srgbClr val="262626"/>
                </a:solidFill>
                <a:effectLst/>
                <a:latin typeface="Open Sans" panose="020B0606030504020204" pitchFamily="34" charset="0"/>
              </a:rPr>
            </a:br>
            <a:r>
              <a:rPr lang="en-US" sz="1300" b="0" i="0" dirty="0"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• Did you integrate (or at least propose integration of):</a:t>
            </a:r>
            <a:br>
              <a:rPr lang="en-US" sz="1300" b="0" i="0" dirty="0">
                <a:solidFill>
                  <a:srgbClr val="262626"/>
                </a:solidFill>
                <a:effectLst/>
                <a:latin typeface="Open Sans" panose="020B0606030504020204" pitchFamily="34" charset="0"/>
              </a:rPr>
            </a:br>
            <a:r>
              <a:rPr lang="en-US" sz="1300" b="0" i="0" dirty="0">
                <a:solidFill>
                  <a:srgbClr val="262626"/>
                </a:solidFill>
                <a:effectLst/>
                <a:latin typeface="Courier New" panose="02070309020205020404" pitchFamily="49" charset="0"/>
              </a:rPr>
              <a:t>o </a:t>
            </a:r>
            <a:r>
              <a:rPr lang="en-US" sz="1300" b="0" i="0" dirty="0"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Static HTML hosting of a webpage frontend?</a:t>
            </a:r>
            <a:br>
              <a:rPr lang="en-US" sz="1300" b="0" i="0" dirty="0">
                <a:solidFill>
                  <a:srgbClr val="262626"/>
                </a:solidFill>
                <a:effectLst/>
                <a:latin typeface="Open Sans" panose="020B0606030504020204" pitchFamily="34" charset="0"/>
              </a:rPr>
            </a:br>
            <a:r>
              <a:rPr lang="en-US" sz="1300" b="0" i="0" dirty="0">
                <a:solidFill>
                  <a:srgbClr val="262626"/>
                </a:solidFill>
                <a:effectLst/>
                <a:latin typeface="Courier New" panose="02070309020205020404" pitchFamily="49" charset="0"/>
              </a:rPr>
              <a:t>o </a:t>
            </a:r>
            <a:r>
              <a:rPr lang="en-US" sz="1300" b="0" i="0" dirty="0"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REST endpoints for service logic and storage connections.</a:t>
            </a:r>
            <a:br>
              <a:rPr lang="en-US" sz="1300" b="0" i="0" dirty="0">
                <a:solidFill>
                  <a:srgbClr val="262626"/>
                </a:solidFill>
                <a:effectLst/>
                <a:latin typeface="Open Sans" panose="020B0606030504020204" pitchFamily="34" charset="0"/>
              </a:rPr>
            </a:br>
            <a:r>
              <a:rPr lang="en-US" sz="1300" b="0" i="0" dirty="0">
                <a:solidFill>
                  <a:srgbClr val="262626"/>
                </a:solidFill>
                <a:effectLst/>
                <a:latin typeface="Courier New" panose="02070309020205020404" pitchFamily="49" charset="0"/>
              </a:rPr>
              <a:t>o </a:t>
            </a:r>
            <a:r>
              <a:rPr lang="en-US" sz="1300" b="0" i="0" dirty="0"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Use of both SQL and NoSQL database structures?</a:t>
            </a:r>
            <a:endParaRPr lang="en-US" sz="1300" dirty="0">
              <a:solidFill>
                <a:srgbClr val="262626"/>
              </a:solidFill>
              <a:latin typeface="Open Sans" panose="020B0606030504020204" pitchFamily="34" charset="0"/>
            </a:endParaRPr>
          </a:p>
          <a:p>
            <a:pPr algn="l">
              <a:buNone/>
            </a:pPr>
            <a:r>
              <a:rPr lang="en-US" sz="1300" b="1" i="0" dirty="0"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Critical Evaluation</a:t>
            </a:r>
            <a:br>
              <a:rPr lang="en-US" sz="1300" b="0" i="0" dirty="0">
                <a:solidFill>
                  <a:srgbClr val="262626"/>
                </a:solidFill>
                <a:effectLst/>
                <a:latin typeface="Open Sans" panose="020B0606030504020204" pitchFamily="34" charset="0"/>
              </a:rPr>
            </a:br>
            <a:r>
              <a:rPr lang="en-US" sz="1300" b="0" i="0" dirty="0"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• Did you provide an overview of advanced features you intend to develop in the final solution?</a:t>
            </a:r>
            <a:br>
              <a:rPr lang="en-US" sz="1300" b="0" i="0" dirty="0">
                <a:solidFill>
                  <a:srgbClr val="262626"/>
                </a:solidFill>
                <a:effectLst/>
                <a:latin typeface="Open Sans" panose="020B0606030504020204" pitchFamily="34" charset="0"/>
              </a:rPr>
            </a:br>
            <a:r>
              <a:rPr lang="en-US" sz="1300" b="0" i="0" dirty="0"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• Did you include an assessment of limitations of your designed solution?</a:t>
            </a:r>
            <a:br>
              <a:rPr lang="en-US" sz="1300" b="0" i="0" dirty="0">
                <a:solidFill>
                  <a:srgbClr val="262626"/>
                </a:solidFill>
                <a:effectLst/>
                <a:latin typeface="Open Sans" panose="020B0606030504020204" pitchFamily="34" charset="0"/>
              </a:rPr>
            </a:br>
            <a:r>
              <a:rPr lang="en-US" sz="1300" b="0" i="0" dirty="0"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• Did you include an assessment of scalability (horizontal/vertical scaling, autoscaling, etc.)?</a:t>
            </a:r>
            <a:br>
              <a:rPr lang="en-US" sz="1300" b="0" i="0" dirty="0">
                <a:solidFill>
                  <a:srgbClr val="262626"/>
                </a:solidFill>
                <a:effectLst/>
                <a:latin typeface="Open Sans" panose="020B0606030504020204" pitchFamily="34" charset="0"/>
              </a:rPr>
            </a:br>
            <a:r>
              <a:rPr lang="en-US" sz="1300" b="0" i="0" dirty="0"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• Did you justify why you selected specific Azure services over alternatives?</a:t>
            </a:r>
          </a:p>
          <a:p>
            <a:pPr algn="l">
              <a:buNone/>
            </a:pPr>
            <a:r>
              <a:rPr lang="en-US" sz="1300" b="1" i="0" dirty="0"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Conclusion &amp; References</a:t>
            </a:r>
            <a:br>
              <a:rPr lang="en-US" sz="1300" b="0" i="0" dirty="0">
                <a:solidFill>
                  <a:srgbClr val="262626"/>
                </a:solidFill>
                <a:effectLst/>
                <a:latin typeface="Open Sans" panose="020B0606030504020204" pitchFamily="34" charset="0"/>
              </a:rPr>
            </a:br>
            <a:r>
              <a:rPr lang="en-US" sz="1300" b="0" i="0" dirty="0"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• Did you include concluding comments </a:t>
            </a:r>
            <a:r>
              <a:rPr lang="en-US" sz="1300" b="0" i="0" dirty="0" err="1"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summarising</a:t>
            </a:r>
            <a:r>
              <a:rPr lang="en-US" sz="1300" b="0" i="0" dirty="0"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 your design?</a:t>
            </a:r>
            <a:br>
              <a:rPr lang="en-US" sz="1300" b="0" i="0" dirty="0">
                <a:solidFill>
                  <a:srgbClr val="262626"/>
                </a:solidFill>
                <a:effectLst/>
                <a:latin typeface="Open Sans" panose="020B0606030504020204" pitchFamily="34" charset="0"/>
              </a:rPr>
            </a:br>
            <a:r>
              <a:rPr lang="en-US" sz="1300" b="0" i="0" dirty="0"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• Did you provide references to sources, frameworks, or Azure documentation you used?</a:t>
            </a:r>
            <a:endParaRPr lang="en-US" sz="1300" dirty="0">
              <a:solidFill>
                <a:srgbClr val="262626"/>
              </a:solidFill>
              <a:latin typeface="Open Sans" panose="020B0606030504020204" pitchFamily="34" charset="0"/>
            </a:endParaRPr>
          </a:p>
          <a:p>
            <a:pPr algn="l">
              <a:buNone/>
            </a:pPr>
            <a:r>
              <a:rPr lang="en-US" sz="1300" b="0" i="0" dirty="0"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✅ If you can tick all these boxes, your submission is likely to meet the expectations.</a:t>
            </a:r>
            <a:br>
              <a:rPr lang="en-US" sz="1300" b="0" i="0" dirty="0">
                <a:solidFill>
                  <a:srgbClr val="262626"/>
                </a:solidFill>
                <a:effectLst/>
                <a:latin typeface="Open Sans" panose="020B0606030504020204" pitchFamily="34" charset="0"/>
              </a:rPr>
            </a:br>
            <a:endParaRPr lang="en-IN" sz="1300" dirty="0"/>
          </a:p>
        </p:txBody>
      </p:sp>
    </p:spTree>
    <p:extLst>
      <p:ext uri="{BB962C8B-B14F-4D97-AF65-F5344CB8AC3E}">
        <p14:creationId xmlns:p14="http://schemas.microsoft.com/office/powerpoint/2010/main" val="31962471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361</TotalTime>
  <Words>3241</Words>
  <Application>Microsoft Office PowerPoint</Application>
  <PresentationFormat>Widescreen</PresentationFormat>
  <Paragraphs>277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Aptos</vt:lpstr>
      <vt:lpstr>Aptos Display</vt:lpstr>
      <vt:lpstr>Arial</vt:lpstr>
      <vt:lpstr>Arial Unicode MS</vt:lpstr>
      <vt:lpstr>Courier New</vt:lpstr>
      <vt:lpstr>Open Sans</vt:lpstr>
      <vt:lpstr>Office Theme</vt:lpstr>
      <vt:lpstr>HyMedia: Cloud-Native Multimedia Sharing Platform A scalable multimedia platform supporting images, videos, audio and GIF media with advanced search, privacy controls and creator monetization.</vt:lpstr>
      <vt:lpstr>Problem definition </vt:lpstr>
      <vt:lpstr>Cloud-native approach &amp; design principles</vt:lpstr>
      <vt:lpstr>System scope (what HyMedia supports)</vt:lpstr>
      <vt:lpstr>Azure high-level architecture </vt:lpstr>
      <vt:lpstr>Detailed workflow: Upload → process → publish</vt:lpstr>
      <vt:lpstr>Authentication + session cookies</vt:lpstr>
      <vt:lpstr>Privacy model + enforcement (core differentiator)</vt:lpstr>
      <vt:lpstr>Sensitive content | 18+ gating</vt:lpstr>
      <vt:lpstr>Wireframe content </vt:lpstr>
      <vt:lpstr>Data model (SQL + Cosmos)</vt:lpstr>
      <vt:lpstr>REST API design</vt:lpstr>
      <vt:lpstr>UML sequence diagrams</vt:lpstr>
      <vt:lpstr>Advanced features | limitations | scalability |  conclusion</vt:lpstr>
      <vt:lpstr>References</vt:lpstr>
      <vt:lpstr>Appendix: Coursework Submission Checklist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Abdulrehman Mohamedrafiq Vohra</dc:creator>
  <cp:lastModifiedBy>Abdulrehman Mohamedrafiq Vohra</cp:lastModifiedBy>
  <cp:revision>12</cp:revision>
  <dcterms:created xsi:type="dcterms:W3CDTF">2026-03-05T02:02:10Z</dcterms:created>
  <dcterms:modified xsi:type="dcterms:W3CDTF">2026-03-06T11:54:22Z</dcterms:modified>
</cp:coreProperties>
</file>